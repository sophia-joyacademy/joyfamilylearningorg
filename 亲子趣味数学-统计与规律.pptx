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303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一年级数学 · 亲子共学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115568"/>
            <a:ext cx="75895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亲子趣味数学</a:t>
            </a:r>
          </a:p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统计与规律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88920"/>
            <a:ext cx="8046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667789"/>
                </a:solidFill>
                <a:latin typeface="PingFang SC"/>
              </a:rPr>
              <a:t>收集数据 · 分类比较 · 找规律 · 说发现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59536" y="3502152"/>
            <a:ext cx="6912864" cy="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4069080"/>
            <a:ext cx="658368" cy="658368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980B9"/>
                </a:solidFill>
                <a:latin typeface="PingFang SC"/>
              </a:rPr>
              <a:t>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收集信息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4069080"/>
            <a:ext cx="658368" cy="658368"/>
          </a:xfrm>
          <a:prstGeom prst="ellipse">
            <a:avLst/>
          </a:prstGeom>
          <a:solidFill>
            <a:srgbClr val="E7F3EC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7854"/>
                </a:solidFill>
                <a:latin typeface="PingFang SC"/>
              </a:rPr>
              <a:t>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整理分类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4069080"/>
            <a:ext cx="658368" cy="658368"/>
          </a:xfrm>
          <a:prstGeom prst="ellipse">
            <a:avLst/>
          </a:prstGeom>
          <a:solidFill>
            <a:srgbClr val="F8EED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9A84C"/>
                </a:solidFill>
                <a:latin typeface="PingFang SC"/>
              </a:rPr>
              <a:t>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发现规律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715000"/>
            <a:ext cx="7863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从一个小问题开始，让数据和规律开口说话。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9326880" y="1280160"/>
            <a:ext cx="256032" cy="256032"/>
          </a:xfrm>
          <a:prstGeom prst="star5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10058400" y="1645920"/>
            <a:ext cx="320040" cy="320040"/>
          </a:xfrm>
          <a:prstGeom prst="star5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10789920" y="1188720"/>
            <a:ext cx="237744" cy="237744"/>
          </a:xfrm>
          <a:prstGeom prst="star5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9601200" y="2194560"/>
            <a:ext cx="310896" cy="310896"/>
          </a:xfrm>
          <a:prstGeom prst="star5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10469880" y="2560320"/>
            <a:ext cx="219456" cy="219456"/>
          </a:xfrm>
          <a:prstGeom prst="star5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10972800" y="1965960"/>
            <a:ext cx="292608" cy="292608"/>
          </a:xfrm>
          <a:prstGeom prst="star5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60" y="4251960"/>
            <a:ext cx="228600" cy="228600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20072" y="4251960"/>
            <a:ext cx="228600" cy="228600"/>
          </a:xfrm>
          <a:prstGeom prst="ellipse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58984" y="4251960"/>
            <a:ext cx="228600" cy="228600"/>
          </a:xfrm>
          <a:prstGeom prst="ellipse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97896" y="4251960"/>
            <a:ext cx="228600" cy="228600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36808" y="4251960"/>
            <a:ext cx="228600" cy="228600"/>
          </a:xfrm>
          <a:prstGeom prst="ellipse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828032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63B53"/>
                </a:solidFill>
                <a:latin typeface="PingFang SC"/>
              </a:rPr>
              <a:t>●  ●  ●   →   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4672" y="6419088"/>
            <a:ext cx="10735056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开始探索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今天，我们做三件数学小事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观察身边的信息，把东西分分类，再看看接下来会发生什么。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48256"/>
            <a:ext cx="3438144" cy="226771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048256"/>
            <a:ext cx="82296" cy="22677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221284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收集数据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615184"/>
            <a:ext cx="2999232" cy="1609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问一个有趣的问题，记录每个人的答案。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例如：大家最喜欢什么水果？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048256"/>
            <a:ext cx="3438144" cy="226771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2048256"/>
            <a:ext cx="82296" cy="226771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21284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整理与比较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615184"/>
            <a:ext cx="2999232" cy="1609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把相同答案放在一起，用点点或图表记录，看看哪一类多。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048256"/>
            <a:ext cx="3438144" cy="226771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048256"/>
            <a:ext cx="82296" cy="22677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21284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分类找规律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615184"/>
            <a:ext cx="2999232" cy="1609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观察颜色、形状、大小或数字，找出共同点，猜猜接下来是什么。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4736592"/>
            <a:ext cx="10241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5296" y="5010912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亲子对话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65192"/>
            <a:ext cx="81381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“你是根据什么分的？”“哪一类更多？”“你发现了什么规律？”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4.1 · 按类别整理数据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先问一个大家都能回答的问题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收集真实的小数据：问题要简单，选项要清楚，每个人只记一次。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11680"/>
            <a:ext cx="4846320" cy="3602736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33172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980B9"/>
                </a:solidFill>
                <a:latin typeface="PingFang SC"/>
              </a:rPr>
              <a:t>调查问题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88920"/>
            <a:ext cx="40690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63B53"/>
                </a:solidFill>
                <a:latin typeface="PingFang SC"/>
              </a:rPr>
              <a:t>你最喜欢哪种水果？</a:t>
            </a:r>
          </a:p>
        </p:txBody>
      </p:sp>
      <p:sp>
        <p:nvSpPr>
          <p:cNvPr id="12" name="Oval 11"/>
          <p:cNvSpPr/>
          <p:nvPr/>
        </p:nvSpPr>
        <p:spPr>
          <a:xfrm>
            <a:off x="1399032" y="3749039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62272"/>
            <a:ext cx="1097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苹果</a:t>
            </a:r>
          </a:p>
        </p:txBody>
      </p:sp>
      <p:sp>
        <p:nvSpPr>
          <p:cNvPr id="14" name="Oval 13"/>
          <p:cNvSpPr/>
          <p:nvPr/>
        </p:nvSpPr>
        <p:spPr>
          <a:xfrm>
            <a:off x="2788920" y="3749039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4462272"/>
            <a:ext cx="1097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香蕉</a:t>
            </a:r>
          </a:p>
        </p:txBody>
      </p:sp>
      <p:sp>
        <p:nvSpPr>
          <p:cNvPr id="16" name="Oval 15"/>
          <p:cNvSpPr/>
          <p:nvPr/>
        </p:nvSpPr>
        <p:spPr>
          <a:xfrm>
            <a:off x="4178808" y="3749039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4462272"/>
            <a:ext cx="1097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草莓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011680"/>
            <a:ext cx="5285232" cy="3602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331720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把答案分组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2852928"/>
            <a:ext cx="4526280" cy="585216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0256" y="2999232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2935224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苹果组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35224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7789"/>
                </a:solidFill>
                <a:latin typeface="PingFang SC"/>
              </a:rPr>
              <a:t>喜欢苹果的答案放这里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3611880"/>
            <a:ext cx="4526280" cy="585216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0256" y="3758184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3694176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香蕉组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94176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7789"/>
                </a:solidFill>
                <a:latin typeface="PingFang SC"/>
              </a:rPr>
              <a:t>喜欢香蕉的答案放这里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4370832"/>
            <a:ext cx="4526280" cy="585216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0256" y="4517136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9168" y="4453128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草莓组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453128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7789"/>
                </a:solidFill>
                <a:latin typeface="PingFang SC"/>
              </a:rPr>
              <a:t>喜欢草莓的答案放这里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33872"/>
            <a:ext cx="10149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分组的办法：答案相同的放一起。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4.1 · 记录和表示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用点点记录：每个答案都数得到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一种答案记一个点；记录完整后，再数点点，就知道每类有多少。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011680"/>
            <a:ext cx="10332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6771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最喜欢的水果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每个 ● 代表 1 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852928"/>
            <a:ext cx="9006840" cy="53035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2953512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苹果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2990088"/>
            <a:ext cx="246888" cy="246888"/>
          </a:xfrm>
          <a:prstGeom prst="ellipse">
            <a:avLst/>
          </a:prstGeom>
          <a:solidFill>
            <a:srgbClr val="2980B9"/>
          </a:solidFill>
          <a:ln w="889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10128" y="2990088"/>
            <a:ext cx="246888" cy="246888"/>
          </a:xfrm>
          <a:prstGeom prst="ellipse">
            <a:avLst/>
          </a:prstGeom>
          <a:solidFill>
            <a:srgbClr val="2980B9"/>
          </a:solidFill>
          <a:ln w="889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77056" y="2990088"/>
            <a:ext cx="246888" cy="246888"/>
          </a:xfrm>
          <a:prstGeom prst="ellipse">
            <a:avLst/>
          </a:prstGeom>
          <a:solidFill>
            <a:srgbClr val="2980B9"/>
          </a:solidFill>
          <a:ln w="889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43983" y="2990088"/>
            <a:ext cx="246888" cy="246888"/>
          </a:xfrm>
          <a:prstGeom prst="ellipse">
            <a:avLst/>
          </a:prstGeom>
          <a:solidFill>
            <a:srgbClr val="2980B9"/>
          </a:solidFill>
          <a:ln w="889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953512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4 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611880"/>
            <a:ext cx="9006840" cy="53035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3712464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香蕉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0" y="3749040"/>
            <a:ext cx="246888" cy="246888"/>
          </a:xfrm>
          <a:prstGeom prst="ellipse">
            <a:avLst/>
          </a:prstGeom>
          <a:solidFill>
            <a:srgbClr val="C9A84C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10128" y="3749040"/>
            <a:ext cx="246888" cy="246888"/>
          </a:xfrm>
          <a:prstGeom prst="ellipse">
            <a:avLst/>
          </a:prstGeom>
          <a:solidFill>
            <a:srgbClr val="C9A84C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712464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2 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370832"/>
            <a:ext cx="9006840" cy="53035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1328" y="4471416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草莓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4507992"/>
            <a:ext cx="246888" cy="246888"/>
          </a:xfrm>
          <a:prstGeom prst="ellipse">
            <a:avLst/>
          </a:prstGeom>
          <a:solidFill>
            <a:srgbClr val="347854"/>
          </a:solidFill>
          <a:ln w="889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10128" y="4507992"/>
            <a:ext cx="246888" cy="246888"/>
          </a:xfrm>
          <a:prstGeom prst="ellipse">
            <a:avLst/>
          </a:prstGeom>
          <a:solidFill>
            <a:srgbClr val="347854"/>
          </a:solidFill>
          <a:ln w="889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77056" y="4507992"/>
            <a:ext cx="246888" cy="246888"/>
          </a:xfrm>
          <a:prstGeom prst="ellipse">
            <a:avLst/>
          </a:prstGeom>
          <a:solidFill>
            <a:srgbClr val="347854"/>
          </a:solidFill>
          <a:ln w="889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4471416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3 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285232"/>
            <a:ext cx="9829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看看：哪种水果得到的票最多？哪种最少？一共有多少票？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4.1 · 看图比较数据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把数据画成图，一眼看出多少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图表要有类别，也要看清每个图形代表几票。这里一个小图案代表1票。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93392"/>
            <a:ext cx="672084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12848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班级水果喜好调查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0088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苹果</a:t>
            </a:r>
          </a:p>
        </p:txBody>
      </p:sp>
      <p:sp>
        <p:nvSpPr>
          <p:cNvPr id="12" name="Oval 11"/>
          <p:cNvSpPr/>
          <p:nvPr/>
        </p:nvSpPr>
        <p:spPr>
          <a:xfrm>
            <a:off x="2542032" y="2971800"/>
            <a:ext cx="347472" cy="347472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45536" y="2971800"/>
            <a:ext cx="347472" cy="347472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9039" y="2971800"/>
            <a:ext cx="347472" cy="347472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2544" y="2971800"/>
            <a:ext cx="347472" cy="347472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76472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香蕉</a:t>
            </a:r>
          </a:p>
        </p:txBody>
      </p:sp>
      <p:sp>
        <p:nvSpPr>
          <p:cNvPr id="17" name="Oval 16"/>
          <p:cNvSpPr/>
          <p:nvPr/>
        </p:nvSpPr>
        <p:spPr>
          <a:xfrm>
            <a:off x="2542032" y="3758183"/>
            <a:ext cx="347472" cy="347472"/>
          </a:xfrm>
          <a:prstGeom prst="ellipse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45536" y="3758183"/>
            <a:ext cx="347472" cy="347472"/>
          </a:xfrm>
          <a:prstGeom prst="ellipse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562856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草莓</a:t>
            </a:r>
          </a:p>
        </p:txBody>
      </p:sp>
      <p:sp>
        <p:nvSpPr>
          <p:cNvPr id="20" name="Oval 19"/>
          <p:cNvSpPr/>
          <p:nvPr/>
        </p:nvSpPr>
        <p:spPr>
          <a:xfrm>
            <a:off x="2542032" y="4544568"/>
            <a:ext cx="347472" cy="347472"/>
          </a:xfrm>
          <a:prstGeom prst="ellipse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45536" y="4544568"/>
            <a:ext cx="347472" cy="347472"/>
          </a:xfrm>
          <a:prstGeom prst="ellipse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49039" y="4544568"/>
            <a:ext cx="347472" cy="347472"/>
          </a:xfrm>
          <a:prstGeom prst="ellipse">
            <a:avLst/>
          </a:prstGeom>
          <a:solidFill>
            <a:srgbClr val="347854"/>
          </a:solidFill>
          <a:ln w="63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5440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7789"/>
                </a:solidFill>
                <a:latin typeface="PingFang SC"/>
              </a:rPr>
              <a:t>图例：每个圆点代表1票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157984"/>
            <a:ext cx="3337560" cy="1133856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2157984"/>
            <a:ext cx="82296" cy="113385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2322576"/>
            <a:ext cx="290779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读一读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724912"/>
            <a:ext cx="28986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4252"/>
                </a:solidFill>
                <a:latin typeface="PingFang SC"/>
              </a:rPr>
              <a:t>先看图例，再数每一行的图案。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557016"/>
            <a:ext cx="3337560" cy="1133856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557016"/>
            <a:ext cx="82296" cy="1133856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721608"/>
            <a:ext cx="290779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比一比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123944"/>
            <a:ext cx="28986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4252"/>
                </a:solidFill>
                <a:latin typeface="PingFang SC"/>
              </a:rPr>
              <a:t>哪行图案最多？哪两行相差1票？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4974336"/>
            <a:ext cx="3337560" cy="694944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5148072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图案越多，表示票数越多。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4.1 · 比较数据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不只看谁最多，也试着说说理由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比较多少、一样多或相差多少；让孩子用图表里的证据解释自己的发现。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148840"/>
            <a:ext cx="3346704" cy="149047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148840"/>
            <a:ext cx="82296" cy="1490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313432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最多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715768"/>
            <a:ext cx="2907792" cy="8321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苹果有4票，是三类里最多的。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148840"/>
            <a:ext cx="3346704" cy="149047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148840"/>
            <a:ext cx="82296" cy="1490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313432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最少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715768"/>
            <a:ext cx="2907792" cy="8321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香蕉有2票，是三类里最少的。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148840"/>
            <a:ext cx="3346704" cy="149047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148840"/>
            <a:ext cx="82296" cy="149047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313432"/>
            <a:ext cx="29169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相差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715768"/>
            <a:ext cx="2907792" cy="8321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苹果比香蕉多2票。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069080"/>
            <a:ext cx="10241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431596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47854"/>
                </a:solidFill>
                <a:latin typeface="PingFang SC"/>
              </a:rPr>
              <a:t>试着回答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70248"/>
            <a:ext cx="77724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“如果再来一位同学投票，结果可能会怎样？”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“你从哪里看出来苹果比香蕉多？”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5833872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先数清楚，再比较；说结论时，可以指给大家看你的证据。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4.1 · 根据特征分类数字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数字也能按共同点分组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观察数字的个位、十位或其他特征，再说出你采用的分类办法。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93392"/>
            <a:ext cx="504748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267712"/>
            <a:ext cx="2103120" cy="329184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18004"/>
            <a:ext cx="2011679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980B9"/>
                </a:solidFill>
                <a:latin typeface="PingFang SC"/>
              </a:rPr>
              <a:t>观察这些数字</a:t>
            </a:r>
          </a:p>
        </p:txBody>
      </p:sp>
      <p:sp>
        <p:nvSpPr>
          <p:cNvPr id="12" name="Oval 11"/>
          <p:cNvSpPr/>
          <p:nvPr/>
        </p:nvSpPr>
        <p:spPr>
          <a:xfrm>
            <a:off x="1207008" y="2926080"/>
            <a:ext cx="713232" cy="713232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099816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12</a:t>
            </a:r>
          </a:p>
        </p:txBody>
      </p:sp>
      <p:sp>
        <p:nvSpPr>
          <p:cNvPr id="14" name="Oval 13"/>
          <p:cNvSpPr/>
          <p:nvPr/>
        </p:nvSpPr>
        <p:spPr>
          <a:xfrm>
            <a:off x="2505456" y="2926080"/>
            <a:ext cx="713232" cy="713232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3099816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15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2926080"/>
            <a:ext cx="713232" cy="713232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3099816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22</a:t>
            </a:r>
          </a:p>
        </p:txBody>
      </p:sp>
      <p:sp>
        <p:nvSpPr>
          <p:cNvPr id="18" name="Oval 17"/>
          <p:cNvSpPr/>
          <p:nvPr/>
        </p:nvSpPr>
        <p:spPr>
          <a:xfrm>
            <a:off x="1207008" y="3913632"/>
            <a:ext cx="713232" cy="713232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087368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25</a:t>
            </a:r>
          </a:p>
        </p:txBody>
      </p:sp>
      <p:sp>
        <p:nvSpPr>
          <p:cNvPr id="20" name="Oval 19"/>
          <p:cNvSpPr/>
          <p:nvPr/>
        </p:nvSpPr>
        <p:spPr>
          <a:xfrm>
            <a:off x="2505456" y="3913632"/>
            <a:ext cx="713232" cy="713232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4087368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32</a:t>
            </a:r>
          </a:p>
        </p:txBody>
      </p:sp>
      <p:sp>
        <p:nvSpPr>
          <p:cNvPr id="22" name="Oval 21"/>
          <p:cNvSpPr/>
          <p:nvPr/>
        </p:nvSpPr>
        <p:spPr>
          <a:xfrm>
            <a:off x="3803904" y="3913632"/>
            <a:ext cx="713232" cy="713232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03904" y="4087368"/>
            <a:ext cx="713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102352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B53"/>
                </a:solidFill>
                <a:latin typeface="PingFang SC"/>
              </a:rPr>
              <a:t>哪些数字的个位是2？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993392"/>
            <a:ext cx="5074920" cy="361188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304288"/>
            <a:ext cx="1645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47854"/>
                </a:solidFill>
                <a:latin typeface="PingFang SC"/>
              </a:rPr>
              <a:t>我发现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852928"/>
            <a:ext cx="420624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>个位是2：12、22、32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>它们的个位相同，十位不同。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>也可以找个位是5的数字：15、25、35。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33872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追问：这些数字还有别的共同点吗？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4.2 · 分类物体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换一种特征，试试重新分类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同一组物品可以有不同的分法；关键是每次说清楚自己依据的特征。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29968"/>
            <a:ext cx="4983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看一看：这些图形有什么特征？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2971800"/>
            <a:ext cx="658368" cy="658368"/>
          </a:xfrm>
          <a:prstGeom prst="ellipse">
            <a:avLst/>
          </a:prstGeom>
          <a:solidFill>
            <a:srgbClr val="E7F0FA"/>
          </a:solidFill>
          <a:ln w="1778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971800"/>
            <a:ext cx="658368" cy="658368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3611880" y="2971800"/>
            <a:ext cx="658368" cy="658368"/>
          </a:xfrm>
          <a:prstGeom prst="triangle">
            <a:avLst/>
          </a:prstGeom>
          <a:solidFill>
            <a:srgbClr val="E7F3EC"/>
          </a:solidFill>
          <a:ln w="1778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4169663"/>
            <a:ext cx="658368" cy="658368"/>
          </a:xfrm>
          <a:prstGeom prst="ellipse">
            <a:avLst/>
          </a:prstGeom>
          <a:solidFill>
            <a:srgbClr val="E7F0FA"/>
          </a:solidFill>
          <a:ln w="1778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4169663"/>
            <a:ext cx="658368" cy="658368"/>
          </a:xfrm>
          <a:prstGeom prst="rect">
            <a:avLst/>
          </a:prstGeom>
          <a:solidFill>
            <a:srgbClr val="F8EED2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3611880" y="4169663"/>
            <a:ext cx="658368" cy="658368"/>
          </a:xfrm>
          <a:prstGeom prst="triangle">
            <a:avLst/>
          </a:prstGeom>
          <a:solidFill>
            <a:srgbClr val="E7F3EC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44768" y="2029968"/>
            <a:ext cx="5212080" cy="356616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0428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980B9"/>
                </a:solidFill>
                <a:latin typeface="PingFang SC"/>
              </a:rPr>
              <a:t>可以这样分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8"/>
            <a:ext cx="4389120" cy="2029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按形状：圆形放一起，方形放一起，三角形放一起。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按颜色：蓝色一组，绿色一组，黄色一组。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同一批图形，能不能找到另一种分法？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33872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分类句式：“我把___放在一起，因为它们都___。”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4.2 · 发现重复规律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看一看、接一接：规律会重复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先找到重复的“小单元”，再判断接下来应该出现什么。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10314432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2286000"/>
            <a:ext cx="1463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形状规律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2267712"/>
            <a:ext cx="530352" cy="530352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5887" y="2267712"/>
            <a:ext cx="530352" cy="530352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0016" y="2267712"/>
            <a:ext cx="530352" cy="530352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24144" y="2267712"/>
            <a:ext cx="530352" cy="530352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48272" y="2267712"/>
            <a:ext cx="530352" cy="530352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2267712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350008"/>
            <a:ext cx="5303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67789"/>
                </a:solidFill>
                <a:latin typeface="PingFang SC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44368"/>
            <a:ext cx="5394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圆、方、圆、方……接下来呢？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25296" y="3520440"/>
            <a:ext cx="9637776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25296" y="3794760"/>
            <a:ext cx="1463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颜色规律</a:t>
            </a:r>
          </a:p>
        </p:txBody>
      </p:sp>
      <p:sp>
        <p:nvSpPr>
          <p:cNvPr id="21" name="Oval 20"/>
          <p:cNvSpPr/>
          <p:nvPr/>
        </p:nvSpPr>
        <p:spPr>
          <a:xfrm>
            <a:off x="2651760" y="3730752"/>
            <a:ext cx="310896" cy="310896"/>
          </a:xfrm>
          <a:prstGeom prst="ellipse">
            <a:avLst/>
          </a:prstGeom>
          <a:solidFill>
            <a:srgbClr val="347854"/>
          </a:solidFill>
          <a:ln w="762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55264" y="3730752"/>
            <a:ext cx="310896" cy="310896"/>
          </a:xfrm>
          <a:prstGeom prst="ellipse">
            <a:avLst/>
          </a:prstGeom>
          <a:solidFill>
            <a:srgbClr val="347854"/>
          </a:solidFill>
          <a:ln w="762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58768" y="3730752"/>
            <a:ext cx="310896" cy="310896"/>
          </a:xfrm>
          <a:prstGeom prst="ellipse">
            <a:avLst/>
          </a:prstGeom>
          <a:solidFill>
            <a:srgbClr val="C9A84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62272" y="3730752"/>
            <a:ext cx="310896" cy="310896"/>
          </a:xfrm>
          <a:prstGeom prst="ellipse">
            <a:avLst/>
          </a:prstGeom>
          <a:solidFill>
            <a:srgbClr val="347854"/>
          </a:solidFill>
          <a:ln w="762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65776" y="3730752"/>
            <a:ext cx="310896" cy="310896"/>
          </a:xfrm>
          <a:prstGeom prst="ellipse">
            <a:avLst/>
          </a:prstGeom>
          <a:solidFill>
            <a:srgbClr val="347854"/>
          </a:solidFill>
          <a:ln w="762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69280" y="3730752"/>
            <a:ext cx="310896" cy="310896"/>
          </a:xfrm>
          <a:prstGeom prst="ellipse">
            <a:avLst/>
          </a:prstGeom>
          <a:solidFill>
            <a:srgbClr val="C9A84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72783" y="3730752"/>
            <a:ext cx="310896" cy="310896"/>
          </a:xfrm>
          <a:prstGeom prst="ellipse">
            <a:avLst/>
          </a:prstGeom>
          <a:solidFill>
            <a:srgbClr val="347854"/>
          </a:solidFill>
          <a:ln w="762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76288" y="3730752"/>
            <a:ext cx="310896" cy="310896"/>
          </a:xfrm>
          <a:prstGeom prst="ellipse">
            <a:avLst/>
          </a:prstGeom>
          <a:solidFill>
            <a:srgbClr val="347854"/>
          </a:solidFill>
          <a:ln w="762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251960"/>
            <a:ext cx="5669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绿、绿、黄，绿、绿、黄……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4892040"/>
            <a:ext cx="9692640" cy="45720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4752" y="4983480"/>
            <a:ext cx="9281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说出规律：重复的部分是什么？你怎么知道下一个是什么？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4.2 · 发现数字规律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数字每次怎样变化？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观察相邻数字之间的变化，再用同一个规则继续往下数。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10287000" cy="98755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176272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980B9"/>
                </a:solidFill>
                <a:latin typeface="PingFang SC"/>
              </a:rPr>
              <a:t>每次加1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39696"/>
            <a:ext cx="5166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21  →  22  →  23  → 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185416"/>
            <a:ext cx="26517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4252"/>
                </a:solidFill>
                <a:latin typeface="PingFang SC"/>
              </a:rPr>
              <a:t>个位依次增加1。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18688"/>
            <a:ext cx="10287000" cy="98755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83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每次加2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46704"/>
            <a:ext cx="5166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2  →  4  →  6  → 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392424"/>
            <a:ext cx="26517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4252"/>
                </a:solidFill>
                <a:latin typeface="PingFang SC"/>
              </a:rPr>
              <a:t>每次向前跳2格。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25696"/>
            <a:ext cx="10287000" cy="98755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590288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84C"/>
                </a:solidFill>
                <a:latin typeface="PingFang SC"/>
              </a:rPr>
              <a:t>每次加10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553712"/>
            <a:ext cx="5166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15  →  25  →  35  → 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4599432"/>
            <a:ext cx="26517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4252"/>
                </a:solidFill>
                <a:latin typeface="PingFang SC"/>
              </a:rPr>
              <a:t>个位不变，十位增加1。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5760720"/>
            <a:ext cx="98755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挑战：自己设计一个数字规律，让家人猜猜下一个数。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亲子游戏 · 家庭小调查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今天来当“数据小侦探”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一张纸和几支笔就能玩；每个人都可以提出问题、记录答案和报告发现。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29968"/>
            <a:ext cx="5074920" cy="144475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029968"/>
            <a:ext cx="82296" cy="14447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① 提出问题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96896"/>
            <a:ext cx="463600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“大家最喜欢哪种水果？”或“今天出门时是什么天气？”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29968"/>
            <a:ext cx="5074920" cy="144475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029968"/>
            <a:ext cx="82296" cy="144475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② 记录答案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96896"/>
            <a:ext cx="463600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每个答案画一个点；相同的答案放在同一类。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767328"/>
            <a:ext cx="5074920" cy="144475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767328"/>
            <a:ext cx="82296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93192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③ 比较多少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34256"/>
            <a:ext cx="463600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哪类最多？哪类最少？一共有几个人回答？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67328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67328"/>
            <a:ext cx="82296" cy="14447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④ 说出发现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34256"/>
            <a:ext cx="4636008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“我发现___最多，因为我数到___个点。”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760720"/>
            <a:ext cx="10149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小提示：先约定选项，每人回答一次；小小数据也能讲出好故事。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拓展 · 可能发生什么？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有些事情一定，有些事情只是可能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用安全、简单的小游戏聊一聊“可能、一定、不会”；不必计算概率。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统计与规律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4663440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8600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摸一摸袋子里的形状</a:t>
            </a:r>
          </a:p>
        </p:txBody>
      </p:sp>
      <p:sp>
        <p:nvSpPr>
          <p:cNvPr id="11" name="Oval 10"/>
          <p:cNvSpPr/>
          <p:nvPr/>
        </p:nvSpPr>
        <p:spPr>
          <a:xfrm>
            <a:off x="1417320" y="2971800"/>
            <a:ext cx="585216" cy="585216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720" y="2971800"/>
            <a:ext cx="585216" cy="585216"/>
          </a:xfrm>
          <a:prstGeom prst="ellipse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46120" y="2971800"/>
            <a:ext cx="585216" cy="585216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7320" y="3931920"/>
            <a:ext cx="585216" cy="585216"/>
          </a:xfrm>
          <a:prstGeom prst="ellipse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3931920"/>
            <a:ext cx="585216" cy="585216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46120" y="3931920"/>
            <a:ext cx="585216" cy="585216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873752"/>
            <a:ext cx="3840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7789"/>
                </a:solidFill>
                <a:latin typeface="PingFang SC"/>
              </a:rPr>
              <a:t>袋子里都是圆形，没有方形。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011680"/>
            <a:ext cx="5285232" cy="358444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47854"/>
                </a:solidFill>
                <a:latin typeface="PingFang SC"/>
              </a:rPr>
              <a:t>想一想再说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852928"/>
            <a:ext cx="4407408" cy="1965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摸出圆形：可能、一定，还是不会？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摸出方形：可能、一定，还是不会？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每次摸出后放回袋子，再摇一摇。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5216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B53"/>
                </a:solidFill>
                <a:latin typeface="PingFang SC"/>
              </a:rPr>
              <a:t>今天我们学会了：收集与比较数据 · 按特征分类 · 发现并描述规律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
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3035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一年级数学 · 亲子共学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115568"/>
            <a:ext cx="758952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263B53"/>
                </a:solidFill>
                <a:latin typeface="PingFang SC"/>
              </a:rPr>
              <a:t>亲子趣味数学</a:t>
            </a:r>
          </a:p>
          <a:p>
            <a:pPr algn="l">
              <a:spcAft>
                <a:spcPts val="0"/>
              </a:spcAft>
            </a:pPr>
            <a:r>
              <a:rPr sz="3800" b="1">
                <a:solidFill>
                  <a:srgbClr val="263B53"/>
                </a:solidFill>
                <a:latin typeface="PingFang SC"/>
              </a:rPr>
              <a:t>数学推理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788920"/>
            <a:ext cx="8046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667789"/>
                </a:solidFill>
                <a:latin typeface="PingFang SC"/>
              </a:rPr>
              <a:t>画一画 · 想一想 · 讲出你的理由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59536" y="3502152"/>
            <a:ext cx="6912864" cy="0"/>
          </a:xfrm>
          <a:prstGeom prst="line">
            <a:avLst/>
          </a:prstGeom>
          <a:ln w="254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14400" y="4069080"/>
            <a:ext cx="658368" cy="658368"/>
          </a:xfrm>
          <a:prstGeom prst="ellipse">
            <a:avLst/>
          </a:prstGeom>
          <a:solidFill>
            <a:srgbClr val="E7F0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87952"/>
            <a:ext cx="658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980B9"/>
                </a:solidFill>
                <a:latin typeface="PingFang SC"/>
              </a:rPr>
              <a:t>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4133087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看清问题</a:t>
            </a:r>
          </a:p>
        </p:txBody>
      </p:sp>
      <p:sp>
        <p:nvSpPr>
          <p:cNvPr id="9" name="Oval 8"/>
          <p:cNvSpPr/>
          <p:nvPr/>
        </p:nvSpPr>
        <p:spPr>
          <a:xfrm>
            <a:off x="3429000" y="4069080"/>
            <a:ext cx="658368" cy="658368"/>
          </a:xfrm>
          <a:prstGeom prst="ellipse">
            <a:avLst/>
          </a:prstGeom>
          <a:solidFill>
            <a:srgbClr val="E7F3EC"/>
          </a:solidFill>
          <a:ln w="190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4187952"/>
            <a:ext cx="658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7854"/>
                </a:solidFill>
                <a:latin typeface="PingFang SC"/>
              </a:rPr>
              <a:t>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4133087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选择方法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4069080"/>
            <a:ext cx="658368" cy="658368"/>
          </a:xfrm>
          <a:prstGeom prst="ellipse">
            <a:avLst/>
          </a:prstGeom>
          <a:solidFill>
            <a:srgbClr val="F8EED2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4187952"/>
            <a:ext cx="658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C9A84C"/>
                </a:solidFill>
                <a:latin typeface="PingFang SC"/>
              </a:rPr>
              <a:t>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133087"/>
            <a:ext cx="1554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解释理由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715000"/>
            <a:ext cx="7863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答案很重要，想出答案的过程也很重要。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0" y="1234440"/>
            <a:ext cx="749808" cy="749808"/>
          </a:xfrm>
          <a:prstGeom prst="ellipse">
            <a:avLst/>
          </a:prstGeom>
          <a:solidFill>
            <a:srgbClr val="E7F0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417320"/>
            <a:ext cx="7498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63B53"/>
                </a:solidFill>
                <a:latin typeface="PingFang SC"/>
              </a:rPr>
              <a:t>看</a:t>
            </a:r>
          </a:p>
        </p:txBody>
      </p:sp>
      <p:sp>
        <p:nvSpPr>
          <p:cNvPr id="18" name="Oval 17"/>
          <p:cNvSpPr/>
          <p:nvPr/>
        </p:nvSpPr>
        <p:spPr>
          <a:xfrm>
            <a:off x="10424160" y="1828800"/>
            <a:ext cx="749808" cy="749808"/>
          </a:xfrm>
          <a:prstGeom prst="ellipse">
            <a:avLst/>
          </a:prstGeom>
          <a:solidFill>
            <a:srgbClr val="E7F3EC"/>
          </a:solidFill>
          <a:ln w="190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0" y="2011680"/>
            <a:ext cx="7498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63B53"/>
                </a:solidFill>
                <a:latin typeface="PingFang SC"/>
              </a:rPr>
              <a:t>想</a:t>
            </a:r>
          </a:p>
        </p:txBody>
      </p:sp>
      <p:sp>
        <p:nvSpPr>
          <p:cNvPr id="20" name="Oval 19"/>
          <p:cNvSpPr/>
          <p:nvPr/>
        </p:nvSpPr>
        <p:spPr>
          <a:xfrm>
            <a:off x="9464040" y="2606040"/>
            <a:ext cx="749808" cy="749808"/>
          </a:xfrm>
          <a:prstGeom prst="ellipse">
            <a:avLst/>
          </a:prstGeom>
          <a:solidFill>
            <a:srgbClr val="F8EED2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2788920"/>
            <a:ext cx="7498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63B53"/>
                </a:solidFill>
                <a:latin typeface="PingFang SC"/>
              </a:rPr>
              <a:t>说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4672" y="6419088"/>
            <a:ext cx="10735056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数学推理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开始探索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小小数学家，怎样解决问题？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先弄清楚问题，再选择办法；做完以后，想想自己的答案合不合理。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数学推理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176272"/>
            <a:ext cx="3401568" cy="2084831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2176272"/>
            <a:ext cx="82296" cy="2084831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340864"/>
            <a:ext cx="2971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① 看清问题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743200"/>
            <a:ext cx="2962656" cy="142646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题目告诉了我什么？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它要我找什么？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176272"/>
            <a:ext cx="3401568" cy="2084831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2176272"/>
            <a:ext cx="82296" cy="2084831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340864"/>
            <a:ext cx="2971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② 选择办法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743200"/>
            <a:ext cx="2962656" cy="142646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画图、数数、摆一摆，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哪种办法适合？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176272"/>
            <a:ext cx="3401568" cy="2084831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2176272"/>
            <a:ext cx="82296" cy="2084831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340864"/>
            <a:ext cx="2971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③ 检查说明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743200"/>
            <a:ext cx="2962656" cy="142646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答案合理吗？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我能讲讲怎么想的吗？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" y="4828032"/>
            <a:ext cx="101498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5065776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7854"/>
                </a:solidFill>
                <a:latin typeface="PingFang SC"/>
              </a:rPr>
              <a:t>家长可以问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020056"/>
            <a:ext cx="75895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“你知道什么？”“你想先试哪种方法？”“你怎么知道答案对不对？”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5.1 · 画图帮助解决问题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方砖图案：下一块放在哪里？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先观察图案怎样增加，再画出下一步；画出来可以帮助我们看清变化。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数学推理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011680"/>
            <a:ext cx="6400800" cy="3639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3931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每一步都多一行、多一列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971800"/>
            <a:ext cx="603504" cy="603504"/>
          </a:xfrm>
          <a:prstGeom prst="rect">
            <a:avLst/>
          </a:prstGeom>
          <a:solidFill>
            <a:srgbClr val="E7F0FA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971800"/>
            <a:ext cx="603504" cy="603504"/>
          </a:xfrm>
          <a:prstGeom prst="rect">
            <a:avLst/>
          </a:prstGeom>
          <a:solidFill>
            <a:srgbClr val="E7F3EC"/>
          </a:solidFill>
          <a:ln w="1524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1104" y="2971800"/>
            <a:ext cx="603504" cy="603504"/>
          </a:xfrm>
          <a:prstGeom prst="rect">
            <a:avLst/>
          </a:prstGeom>
          <a:solidFill>
            <a:srgbClr val="E7F3EC"/>
          </a:solidFill>
          <a:ln w="1524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3575304"/>
            <a:ext cx="603504" cy="603504"/>
          </a:xfrm>
          <a:prstGeom prst="rect">
            <a:avLst/>
          </a:prstGeom>
          <a:solidFill>
            <a:srgbClr val="E7F3EC"/>
          </a:solidFill>
          <a:ln w="1524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3575304"/>
            <a:ext cx="603504" cy="603504"/>
          </a:xfrm>
          <a:prstGeom prst="rect">
            <a:avLst/>
          </a:prstGeom>
          <a:solidFill>
            <a:srgbClr val="E7F3EC"/>
          </a:solidFill>
          <a:ln w="1524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2971800"/>
            <a:ext cx="502920" cy="502920"/>
          </a:xfrm>
          <a:prstGeom prst="rect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2971800"/>
            <a:ext cx="502920" cy="502920"/>
          </a:xfrm>
          <a:prstGeom prst="rect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971800"/>
            <a:ext cx="502920" cy="502920"/>
          </a:xfrm>
          <a:prstGeom prst="rect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0" y="3474720"/>
            <a:ext cx="502920" cy="502920"/>
          </a:xfrm>
          <a:prstGeom prst="rect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3474720"/>
            <a:ext cx="502920" cy="502920"/>
          </a:xfrm>
          <a:prstGeom prst="rect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474720"/>
            <a:ext cx="502920" cy="502920"/>
          </a:xfrm>
          <a:prstGeom prst="rect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0" y="3977639"/>
            <a:ext cx="502920" cy="502920"/>
          </a:xfrm>
          <a:prstGeom prst="rect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3977639"/>
            <a:ext cx="502920" cy="502920"/>
          </a:xfrm>
          <a:prstGeom prst="rect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3977639"/>
            <a:ext cx="502920" cy="502920"/>
          </a:xfrm>
          <a:prstGeom prst="rect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55648" y="4370832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667789"/>
                </a:solidFill>
                <a:latin typeface="PingFang SC"/>
              </a:rPr>
              <a:t>第1步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370832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667789"/>
                </a:solidFill>
                <a:latin typeface="PingFang SC"/>
              </a:rPr>
              <a:t>第2步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1264" y="457200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667789"/>
                </a:solidFill>
                <a:latin typeface="PingFang SC"/>
              </a:rPr>
              <a:t>第3步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2029968"/>
            <a:ext cx="3703320" cy="137160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0" y="2029968"/>
            <a:ext cx="82296" cy="13716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2194560"/>
            <a:ext cx="3273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先观察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2596896"/>
            <a:ext cx="32644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第1步有1块，第2步有4块，第3步有9块。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657600"/>
            <a:ext cx="3703320" cy="137160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89520" y="3657600"/>
            <a:ext cx="82296" cy="1371600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3822191"/>
            <a:ext cx="3273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再预测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224528"/>
            <a:ext cx="32644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第4步会是4行4列。你能画出来并数一数吗？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852160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说出你的发现：每一步的方砖是怎样增加的？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5.1 · 选择解题方法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同一个问题，可以试不同的方法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选择能帮助自己看清数量、关系或变化的方法；不必急着追求最快。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数学推理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10287000" cy="932688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F8E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2286000"/>
            <a:ext cx="9646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问题：地上有5块方砖，又放来3块，现在一共有几块？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37560"/>
            <a:ext cx="3364992" cy="160020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337560"/>
            <a:ext cx="82296" cy="1600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02152"/>
            <a:ext cx="29352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画一画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04487"/>
            <a:ext cx="2926080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画5个点，再画3个点，数一数一共有几个。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3337560"/>
            <a:ext cx="3364992" cy="160020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3337560"/>
            <a:ext cx="82296" cy="1600200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3502152"/>
            <a:ext cx="29352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摆一摆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904487"/>
            <a:ext cx="2926080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用积木摆出5块，再添上3块，数总数。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337560"/>
            <a:ext cx="336499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3337560"/>
            <a:ext cx="82296" cy="1600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502152"/>
            <a:ext cx="29352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数一数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04487"/>
            <a:ext cx="2926080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从5开始接着数3个：6、7、8。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10058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想想看：哪一种方法最容易让你看清楚？为什么？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5.2 · 根据钟表进行推理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钟表往前走1小时，时间怎样变？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整点和半点都可以练习；加1小时后，分针位置保持不变，时针往前走一格。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数学推理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80"/>
            <a:ext cx="49377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04288"/>
            <a:ext cx="4297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现在是2点</a:t>
            </a:r>
          </a:p>
        </p:txBody>
      </p:sp>
      <p:sp>
        <p:nvSpPr>
          <p:cNvPr id="11" name="Oval 10"/>
          <p:cNvSpPr/>
          <p:nvPr/>
        </p:nvSpPr>
        <p:spPr>
          <a:xfrm>
            <a:off x="2176272" y="2761488"/>
            <a:ext cx="1874519" cy="187451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2852928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63B53"/>
                </a:solidFill>
                <a:latin typeface="PingFang SC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3557016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63B53"/>
                </a:solidFill>
                <a:latin typeface="PingFang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4315968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63B53"/>
                </a:solidFill>
                <a:latin typeface="PingFang SC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3557016"/>
            <a:ext cx="274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63B53"/>
                </a:solidFill>
                <a:latin typeface="PingFang SC"/>
              </a:rPr>
              <a:t>9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113532" y="3127248"/>
            <a:ext cx="0" cy="571500"/>
          </a:xfrm>
          <a:prstGeom prst="line">
            <a:avLst/>
          </a:prstGeom>
          <a:ln w="3175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113532" y="3410712"/>
            <a:ext cx="498348" cy="288036"/>
          </a:xfrm>
          <a:prstGeom prst="line">
            <a:avLst/>
          </a:prstGeom>
          <a:ln w="50800">
            <a:solidFill>
              <a:srgbClr val="26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063240" y="3648456"/>
            <a:ext cx="100584" cy="100584"/>
          </a:xfrm>
          <a:prstGeom prst="ellipse">
            <a:avLst/>
          </a:prstGeom>
          <a:solidFill>
            <a:srgbClr val="C9A84C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4828032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263B53"/>
                </a:solidFill>
                <a:latin typeface="PingFang SC"/>
              </a:rPr>
              <a:t>2:00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057400"/>
            <a:ext cx="4892040" cy="1170432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057400"/>
            <a:ext cx="82296" cy="11704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221992"/>
            <a:ext cx="4462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24328"/>
            <a:ext cx="4453127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2点再过1小时，是几点？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493008"/>
            <a:ext cx="4892040" cy="1170432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493008"/>
            <a:ext cx="82296" cy="1170432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657600"/>
            <a:ext cx="4462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想一想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059935"/>
            <a:ext cx="4453127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从2点往后数1个小时：3点。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956048"/>
            <a:ext cx="4892040" cy="603504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F8E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5111496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3B53"/>
                </a:solidFill>
                <a:latin typeface="PingFang SC"/>
              </a:rPr>
              <a:t>检查：时间往前走，答案应该比2点晚。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5.2 · 判断答案是否合理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哪个答案不合理？说说为什么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不是只选出答案，还要用题目里的信息解释自己的判断。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数学推理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10287000" cy="932688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9646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263B53"/>
                </a:solidFill>
                <a:latin typeface="PingFang SC"/>
              </a:rPr>
              <a:t>现在是2点。再过1小时，可能是……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456432"/>
            <a:ext cx="2880360" cy="1298448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75887"/>
            <a:ext cx="25146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63B53"/>
                </a:solidFill>
                <a:latin typeface="PingFang SC"/>
              </a:rPr>
              <a:t>3点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2452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合理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456432"/>
            <a:ext cx="2880360" cy="1298448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675887"/>
            <a:ext cx="25146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63B53"/>
                </a:solidFill>
                <a:latin typeface="PingFang SC"/>
              </a:rPr>
              <a:t>1点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22452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9A84C"/>
                </a:solidFill>
                <a:latin typeface="PingFang SC"/>
              </a:rPr>
              <a:t>不合理？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456432"/>
            <a:ext cx="2880360" cy="1298448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675887"/>
            <a:ext cx="25146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63B53"/>
                </a:solidFill>
                <a:latin typeface="PingFang SC"/>
              </a:rPr>
              <a:t>2点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24528"/>
            <a:ext cx="2514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980B9"/>
                </a:solidFill>
                <a:latin typeface="PingFang SC"/>
              </a:rPr>
              <a:t>不合理？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5120640"/>
            <a:ext cx="97383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5230368"/>
            <a:ext cx="9326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44252"/>
                </a:solidFill>
                <a:latin typeface="PingFang SC"/>
              </a:rPr>
              <a:t>提示：再过1小时，钟表往前走1格；时间不能停住，也不能倒退。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5.2 · 用数数和数轴说明理由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比12少1的数，怎样找到？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从12往回数一步，或在数轴上向左移动一格，都能帮助我们找到答案。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数学推理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80"/>
            <a:ext cx="1037844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12848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63B53"/>
                </a:solidFill>
                <a:latin typeface="PingFang SC"/>
              </a:rPr>
              <a:t>数轴：向左少1，向右多1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980944"/>
            <a:ext cx="845820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965960" y="2761488"/>
            <a:ext cx="438912" cy="438912"/>
          </a:xfrm>
          <a:prstGeom prst="ellipse">
            <a:avLst/>
          </a:prstGeom>
          <a:solidFill>
            <a:srgbClr val="E7F0FA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852928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3B53"/>
                </a:solidFill>
                <a:latin typeface="PingFang SC"/>
              </a:rPr>
              <a:t>9</a:t>
            </a:r>
          </a:p>
        </p:txBody>
      </p:sp>
      <p:sp>
        <p:nvSpPr>
          <p:cNvPr id="14" name="Oval 13"/>
          <p:cNvSpPr/>
          <p:nvPr/>
        </p:nvSpPr>
        <p:spPr>
          <a:xfrm>
            <a:off x="3474720" y="2761488"/>
            <a:ext cx="438912" cy="438912"/>
          </a:xfrm>
          <a:prstGeom prst="ellipse">
            <a:avLst/>
          </a:prstGeom>
          <a:solidFill>
            <a:srgbClr val="E7F0FA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852928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3B53"/>
                </a:solidFill>
                <a:latin typeface="PingFang SC"/>
              </a:rPr>
              <a:t>10</a:t>
            </a:r>
          </a:p>
        </p:txBody>
      </p:sp>
      <p:sp>
        <p:nvSpPr>
          <p:cNvPr id="16" name="Oval 15"/>
          <p:cNvSpPr/>
          <p:nvPr/>
        </p:nvSpPr>
        <p:spPr>
          <a:xfrm>
            <a:off x="4983479" y="2761488"/>
            <a:ext cx="438912" cy="438912"/>
          </a:xfrm>
          <a:prstGeom prst="ellipse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79" y="2852928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3B53"/>
                </a:solidFill>
                <a:latin typeface="PingFang SC"/>
              </a:rPr>
              <a:t>11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2761488"/>
            <a:ext cx="438912" cy="438912"/>
          </a:xfrm>
          <a:prstGeom prst="ellipse">
            <a:avLst/>
          </a:prstGeom>
          <a:solidFill>
            <a:srgbClr val="E7F0FA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852928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3B53"/>
                </a:solidFill>
                <a:latin typeface="PingFang SC"/>
              </a:rPr>
              <a:t>12</a:t>
            </a:r>
          </a:p>
        </p:txBody>
      </p:sp>
      <p:sp>
        <p:nvSpPr>
          <p:cNvPr id="20" name="Oval 19"/>
          <p:cNvSpPr/>
          <p:nvPr/>
        </p:nvSpPr>
        <p:spPr>
          <a:xfrm>
            <a:off x="8001000" y="2761488"/>
            <a:ext cx="438912" cy="438912"/>
          </a:xfrm>
          <a:prstGeom prst="ellipse">
            <a:avLst/>
          </a:prstGeom>
          <a:solidFill>
            <a:srgbClr val="E7F0FA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852928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3B53"/>
                </a:solidFill>
                <a:latin typeface="PingFang SC"/>
              </a:rPr>
              <a:t>13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0" y="2761488"/>
            <a:ext cx="438912" cy="438912"/>
          </a:xfrm>
          <a:prstGeom prst="ellipse">
            <a:avLst/>
          </a:prstGeom>
          <a:solidFill>
            <a:srgbClr val="E7F0FA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852928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3B53"/>
                </a:solidFill>
                <a:latin typeface="PingFang SC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359152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47854"/>
                </a:solidFill>
                <a:latin typeface="PingFang SC"/>
              </a:rPr>
              <a:t>← 少1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3913632"/>
            <a:ext cx="4480560" cy="118872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" y="3913632"/>
            <a:ext cx="82296" cy="1188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078224"/>
            <a:ext cx="40507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倒着数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480560"/>
            <a:ext cx="404164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12前面的一个数是11。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913632"/>
            <a:ext cx="4480560" cy="118872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913632"/>
            <a:ext cx="82296" cy="1188720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078224"/>
            <a:ext cx="40507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说理由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480560"/>
            <a:ext cx="404164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因为11再加1就回到12，所以12少1是11。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577840"/>
            <a:ext cx="9966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试着完整说一遍：“我知道___，所以我推想___。”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5.3 · 发现不同问题之间的联系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17加10，哪个数字会改变？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认识十位和个位：加10时，个位不变，十位增加1。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数学推理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011680"/>
            <a:ext cx="4800600" cy="3621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2" y="2523744"/>
            <a:ext cx="14630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263B53"/>
                </a:solidFill>
                <a:latin typeface="PingFang SC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2523744"/>
            <a:ext cx="14630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347854"/>
                </a:solidFill>
                <a:latin typeface="PingFang SC"/>
              </a:rPr>
              <a:t>+ 10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81328" y="3429000"/>
            <a:ext cx="2999232" cy="0"/>
          </a:xfrm>
          <a:prstGeom prst="line">
            <a:avLst/>
          </a:prstGeom>
          <a:ln w="190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65960" y="3694176"/>
            <a:ext cx="21945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2980B9"/>
                </a:solidFill>
                <a:latin typeface="PingFang SC"/>
              </a:rPr>
              <a:t>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28032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667789"/>
                </a:solidFill>
                <a:latin typeface="PingFang SC"/>
              </a:rPr>
              <a:t>个位7没变，十位从1变成2。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57400"/>
            <a:ext cx="5074920" cy="1207008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057400"/>
            <a:ext cx="82296" cy="1207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21992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想一想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24328"/>
            <a:ext cx="463600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哪个数的个位与17相同，但十位比17大？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66160"/>
            <a:ext cx="5074920" cy="1207008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566160"/>
            <a:ext cx="82296" cy="1207008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30752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找联系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33087"/>
            <a:ext cx="4636008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17 + 10 = 27。个位仍是7，十位多了1个十。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5074920"/>
            <a:ext cx="5074920" cy="502920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F8E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5184648"/>
            <a:ext cx="4617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试一试：从27加10，会到哪个数？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5.3 · 按十计数求和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从17开始，每次加10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把连续加10的过程画出来或说出来，观察十位怎样变化。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数学推理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10287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17320" y="2542032"/>
            <a:ext cx="896112" cy="896112"/>
          </a:xfrm>
          <a:prstGeom prst="ellipse">
            <a:avLst/>
          </a:prstGeom>
          <a:solidFill>
            <a:srgbClr val="E7F0FA"/>
          </a:solidFill>
          <a:ln w="1778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798064"/>
            <a:ext cx="8961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63B53"/>
                </a:solidFill>
                <a:latin typeface="PingFang SC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9736" y="2807208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667789"/>
                </a:solidFill>
                <a:latin typeface="PingFang SC"/>
              </a:rPr>
              <a:t>+10 →</a:t>
            </a:r>
          </a:p>
        </p:txBody>
      </p:sp>
      <p:sp>
        <p:nvSpPr>
          <p:cNvPr id="13" name="Oval 12"/>
          <p:cNvSpPr/>
          <p:nvPr/>
        </p:nvSpPr>
        <p:spPr>
          <a:xfrm>
            <a:off x="3886200" y="2542032"/>
            <a:ext cx="896112" cy="896112"/>
          </a:xfrm>
          <a:prstGeom prst="ellipse">
            <a:avLst/>
          </a:prstGeom>
          <a:solidFill>
            <a:srgbClr val="E7F3EC"/>
          </a:solidFill>
          <a:ln w="1778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798064"/>
            <a:ext cx="8961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63B53"/>
                </a:solidFill>
                <a:latin typeface="PingFang SC"/>
              </a:rPr>
              <a:t>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8616" y="2807208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667789"/>
                </a:solidFill>
                <a:latin typeface="PingFang SC"/>
              </a:rPr>
              <a:t>+10 →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2542032"/>
            <a:ext cx="896112" cy="896112"/>
          </a:xfrm>
          <a:prstGeom prst="ellipse">
            <a:avLst/>
          </a:prstGeom>
          <a:solidFill>
            <a:srgbClr val="F8EED2"/>
          </a:solidFill>
          <a:ln w="1778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98064"/>
            <a:ext cx="8961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63B53"/>
                </a:solidFill>
                <a:latin typeface="PingFang SC"/>
              </a:rPr>
              <a:t>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807208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667789"/>
                </a:solidFill>
                <a:latin typeface="PingFang SC"/>
              </a:rPr>
              <a:t>+10 →</a:t>
            </a:r>
          </a:p>
        </p:txBody>
      </p:sp>
      <p:sp>
        <p:nvSpPr>
          <p:cNvPr id="19" name="Oval 18"/>
          <p:cNvSpPr/>
          <p:nvPr/>
        </p:nvSpPr>
        <p:spPr>
          <a:xfrm>
            <a:off x="8823960" y="2542032"/>
            <a:ext cx="896112" cy="896112"/>
          </a:xfrm>
          <a:prstGeom prst="ellipse">
            <a:avLst/>
          </a:prstGeom>
          <a:solidFill>
            <a:srgbClr val="E7F0FA"/>
          </a:solidFill>
          <a:ln w="1778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2798064"/>
            <a:ext cx="8961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63B53"/>
                </a:solidFill>
                <a:latin typeface="PingFang SC"/>
              </a:rPr>
              <a:t>47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434840"/>
            <a:ext cx="4434840" cy="1078992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4434840"/>
            <a:ext cx="82296" cy="107899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599431"/>
            <a:ext cx="4005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观察个位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001768"/>
            <a:ext cx="3995927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17、27、37、47的个位都是7。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4434840"/>
            <a:ext cx="4434840" cy="1078992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4434840"/>
            <a:ext cx="82296" cy="1078992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599431"/>
            <a:ext cx="40050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观察十位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001768"/>
            <a:ext cx="3995927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每次加10，十位就增加1。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833872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挑战：从12开始，每次加10，接下来三个数是什么？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选择方法 · 同题不同想法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哪种办法最适合你？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没有唯一的“最好方法”；看哪种办法让你最容易看懂题目、解释过程。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数学推理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29968"/>
            <a:ext cx="10378440" cy="841248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F8E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267712"/>
            <a:ext cx="9784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问题：从17开始，再数两个10，数到多少？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" y="3218688"/>
            <a:ext cx="3364992" cy="1664208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" y="3218688"/>
            <a:ext cx="82296" cy="16642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383280"/>
            <a:ext cx="29352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在脑中接着数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785615"/>
            <a:ext cx="29260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17 → 27 → 37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每次多10。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3218688"/>
            <a:ext cx="3364992" cy="1664208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3218688"/>
            <a:ext cx="82296" cy="1664208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3383280"/>
            <a:ext cx="29352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画跳跃图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785615"/>
            <a:ext cx="29260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从17开始，向前跳两次，每次跳10。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3218688"/>
            <a:ext cx="336499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3218688"/>
            <a:ext cx="82296" cy="16642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3383280"/>
            <a:ext cx="29352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分解数位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3785615"/>
            <a:ext cx="29260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个位保持7，十位依次变成2、3。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5559552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和家人说说：你选择了哪种方法？它为什么适合这道题？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亲子游戏 · 在家练习推理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轮到你出题，家人来推理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用积木、纸笔或家里的钟表就能开始；鼓励孩子讲想法，不只报答案。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数学推理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029968"/>
            <a:ext cx="5074920" cy="146304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2029968"/>
            <a:ext cx="82296" cy="14630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194560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图形接龙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96896"/>
            <a:ext cx="4636008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摆一排方砖，藏起最后一块，让孩子根据前面的变化来补上。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29968"/>
            <a:ext cx="5074920" cy="146304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029968"/>
            <a:ext cx="82296" cy="1463040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我说你猜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96896"/>
            <a:ext cx="4636008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描述一个数字：“比12少1”，请家人猜，并说出理由。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3803904"/>
            <a:ext cx="5074920" cy="1463040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" y="3803904"/>
            <a:ext cx="82296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968496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钟表小侦探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370832"/>
            <a:ext cx="4636008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说出一个时间，再问：“过1小时是什么时候？你怎么知道？”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03904"/>
            <a:ext cx="5074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803904"/>
            <a:ext cx="82296" cy="14630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68496"/>
            <a:ext cx="46451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数字跳跳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70832"/>
            <a:ext cx="4636008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从一个两位数开始，轮流每次加10，看看谁能说出下一数。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058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家长提示：接住孩子的想法，多问“你是怎么想到的？”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带回生活 · 小小推理家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解决问题，也要记得说出理由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今天，我们练习从看清问题到选择方法，再到检查和解释。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数学推理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12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2057400"/>
            <a:ext cx="585216" cy="585216"/>
          </a:xfrm>
          <a:prstGeom prst="ellipse">
            <a:avLst/>
          </a:prstGeom>
          <a:solidFill>
            <a:srgbClr val="E7F0FA"/>
          </a:solidFill>
          <a:ln w="1651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203704"/>
            <a:ext cx="58521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980B9"/>
                </a:solidFill>
                <a:latin typeface="PingFang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075688"/>
            <a:ext cx="1920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看清问题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093976"/>
            <a:ext cx="6217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题目告诉了什么？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3090672"/>
            <a:ext cx="585216" cy="585216"/>
          </a:xfrm>
          <a:prstGeom prst="ellipse">
            <a:avLst/>
          </a:prstGeom>
          <a:solidFill>
            <a:srgbClr val="E7F3EC"/>
          </a:solidFill>
          <a:ln w="1651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236976"/>
            <a:ext cx="58521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47854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108960"/>
            <a:ext cx="1920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选择办法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127248"/>
            <a:ext cx="6217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画图、数数还是摆一摆？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4123944"/>
            <a:ext cx="585216" cy="585216"/>
          </a:xfrm>
          <a:prstGeom prst="ellipse">
            <a:avLst/>
          </a:prstGeom>
          <a:solidFill>
            <a:srgbClr val="F8EED2"/>
          </a:solidFill>
          <a:ln w="1651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270248"/>
            <a:ext cx="58521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9A84C"/>
                </a:solidFill>
                <a:latin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142231"/>
            <a:ext cx="1920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讲出理由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160520"/>
            <a:ext cx="6217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我这样想，因为……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0680"/>
            <a:ext cx="9875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559552"/>
            <a:ext cx="9418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7854"/>
                </a:solidFill>
                <a:latin typeface="PingFang SC"/>
              </a:rPr>
              <a:t>看清问题 · 选择方法 · 检查答案 · 说明理由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
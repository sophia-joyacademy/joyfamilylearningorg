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9875520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A84C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44752"/>
            <a:ext cx="10058400" cy="9601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B3A6B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9601200" cy="6583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C3E50"/>
                </a:solidFill>
                <a:latin typeface="PingFang SC"/>
              </a:rPr>
              <a:t>数数、计算、找规律，也学习用数学观察和理解身边的世界。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379476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5968" y="379476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35824" y="379476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4087368"/>
            <a:ext cx="530352" cy="530352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096511"/>
            <a:ext cx="530352" cy="512063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PingFang SC"/>
              </a:rPr>
              <a:t>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995928"/>
            <a:ext cx="201168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理解数量</a:t>
            </a:r>
          </a:p>
        </p:txBody>
      </p:sp>
      <p:sp>
        <p:nvSpPr>
          <p:cNvPr id="12" name="Oval 11"/>
          <p:cNvSpPr/>
          <p:nvPr/>
        </p:nvSpPr>
        <p:spPr>
          <a:xfrm>
            <a:off x="4535424" y="4087368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4096511"/>
            <a:ext cx="530352" cy="512063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PingFang SC"/>
              </a:rPr>
              <a:t>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995928"/>
            <a:ext cx="201168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熟练计算</a:t>
            </a:r>
          </a:p>
        </p:txBody>
      </p:sp>
      <p:sp>
        <p:nvSpPr>
          <p:cNvPr id="15" name="Oval 14"/>
          <p:cNvSpPr/>
          <p:nvPr/>
        </p:nvSpPr>
        <p:spPr>
          <a:xfrm>
            <a:off x="7955279" y="4087368"/>
            <a:ext cx="530352" cy="530352"/>
          </a:xfrm>
          <a:prstGeom prst="ellipse">
            <a:avLst/>
          </a:prstGeom>
          <a:solidFill>
            <a:srgbClr val="347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096511"/>
            <a:ext cx="530352" cy="512063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PingFang SC"/>
              </a:rPr>
              <a:t>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995928"/>
            <a:ext cx="201168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灵活思考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9788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A8D"/>
                </a:solidFill>
                <a:latin typeface="PingFang SC"/>
              </a:rPr>
              <a:t>从看见数字，到理解数字，再到运用数字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3A6B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A84C"/>
                </a:solidFill>
                <a:latin typeface="PingFang SC"/>
              </a:rPr>
              <a:t>01  数数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3A6B"/>
                </a:solidFill>
                <a:latin typeface="PingFang SC"/>
              </a:rPr>
              <a:t>从数数开始：听见数量，理解数量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A8D"/>
                </a:solidFill>
                <a:latin typeface="PingFang SC"/>
              </a:rPr>
              <a:t>数数不只是背数字顺序，也是在把数字和真实的数量联系起来。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45952" cy="13716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955279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A8D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3A6B"/>
                </a:solidFill>
                <a:latin typeface="PingFang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1828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75104"/>
            <a:ext cx="481888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一起数一数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14016"/>
            <a:ext cx="4818888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PingFang SC"/>
              </a:rPr>
              <a:t>从1往前数，也从一个指定的数字开始数。
数玩具、餐具、水果或台阶：每个物品只数一次。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82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75104"/>
            <a:ext cx="481888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换一种方向和节奏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14016"/>
            <a:ext cx="4818888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PingFang SC"/>
              </a:rPr>
              <a:t>试试倒着数，或每次增加2、5、10。
数到一半停下来，请孩子接着数。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69080"/>
            <a:ext cx="10789920" cy="1371600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5196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980B9"/>
                </a:solidFill>
                <a:latin typeface="PingFang SC"/>
              </a:rPr>
              <a:t>亲子小练习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99432"/>
            <a:ext cx="996696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收拾积木时，一边放回盒子一边数；再问：“如果从5开始，接下来是什么？”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80644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A8D"/>
                </a:solidFill>
                <a:latin typeface="PingFang SC"/>
              </a:rPr>
              <a:t>家长观察：孩子是否理解最后数到的数字代表总数？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A84C"/>
                </a:solidFill>
                <a:latin typeface="PingFang SC"/>
              </a:rPr>
              <a:t>02  百数表与找规律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3A6B"/>
                </a:solidFill>
                <a:latin typeface="PingFang SC"/>
              </a:rPr>
              <a:t>百数表：在数字里发现规律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A8D"/>
                </a:solidFill>
                <a:latin typeface="PingFang SC"/>
              </a:rPr>
              <a:t>百数表把数字排成了有规律的“地图”，可以帮助孩子观察数字之间的关系。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45952" cy="13716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955279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A8D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3A6B"/>
                </a:solidFill>
                <a:latin typeface="PingFang SC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1828800"/>
            <a:ext cx="562356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0" y="1828800"/>
            <a:ext cx="73152" cy="13533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1975104"/>
            <a:ext cx="518464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向右看：每次多1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414016"/>
            <a:ext cx="5184648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例如：23、24、25……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3456432"/>
            <a:ext cx="562356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3456432"/>
            <a:ext cx="73152" cy="13533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3602736"/>
            <a:ext cx="518464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向下看：每次多10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041648"/>
            <a:ext cx="5184648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例如：23、33、43……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94960"/>
            <a:ext cx="10561320" cy="658368"/>
          </a:xfrm>
          <a:prstGeom prst="roundRect">
            <a:avLst>
              <a:gd name="adj" fmla="val 12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486400"/>
            <a:ext cx="10058400" cy="42062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PingFang SC"/>
              </a:rPr>
              <a:t>问一问：“你发现了什么？从这个数开始，往下数一格会怎样？”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1673352"/>
            <a:ext cx="47548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PingFang SC"/>
              </a:rPr>
              <a:t>完整百数表（1—100）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731520" y="1956816"/>
          <a:ext cx="47091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"/>
                <a:gridCol w="470916"/>
                <a:gridCol w="470916"/>
                <a:gridCol w="470916"/>
                <a:gridCol w="470916"/>
                <a:gridCol w="470916"/>
                <a:gridCol w="470916"/>
                <a:gridCol w="470916"/>
                <a:gridCol w="470916"/>
                <a:gridCol w="470916"/>
              </a:tblGrid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13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9A84C"/>
                          </a:solidFill>
                          <a:latin typeface="PingFang SC"/>
                        </a:rPr>
                        <a:t>23</a:t>
                      </a:r>
                    </a:p>
                  </a:txBody>
                  <a:tcPr marL="9144" marR="9144" marT="0" marB="0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29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9A84C"/>
                          </a:solidFill>
                          <a:latin typeface="PingFang SC"/>
                        </a:rPr>
                        <a:t>33</a:t>
                      </a:r>
                    </a:p>
                  </a:txBody>
                  <a:tcPr marL="9144" marR="9144" marT="0" marB="0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39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9A84C"/>
                          </a:solidFill>
                          <a:latin typeface="PingFang SC"/>
                        </a:rPr>
                        <a:t>43</a:t>
                      </a:r>
                    </a:p>
                  </a:txBody>
                  <a:tcPr marL="9144" marR="9144" marT="0" marB="0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49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C9A84C"/>
                          </a:solidFill>
                          <a:latin typeface="PingFang SC"/>
                        </a:rPr>
                        <a:t>53</a:t>
                      </a:r>
                    </a:p>
                  </a:txBody>
                  <a:tcPr marL="9144" marR="9144" marT="0" marB="0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59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63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69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73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79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83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89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91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92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93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94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95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96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97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98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99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C3E50"/>
                          </a:solidFill>
                          <a:latin typeface="PingFang SC"/>
                        </a:rPr>
                        <a:t>100</a:t>
                      </a:r>
                    </a:p>
                  </a:txBody>
                  <a:tcPr marL="9144" marR="914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A84C"/>
                </a:solidFill>
                <a:latin typeface="PingFang SC"/>
              </a:rPr>
              <a:t>03  加法与减法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3A6B"/>
                </a:solidFill>
                <a:latin typeface="PingFang SC"/>
              </a:rPr>
              <a:t>加减法：先画出来，再数一数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A8D"/>
                </a:solidFill>
                <a:latin typeface="PingFang SC"/>
              </a:rPr>
              <a:t>画图能把题目里的数量变得看得见，帮助孩子理解为什么要加或减。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45952" cy="13716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955279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A8D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3A6B"/>
                </a:solidFill>
                <a:latin typeface="PingFang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2120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12984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75104"/>
            <a:ext cx="477316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加法：数量合在一起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14016"/>
            <a:ext cx="4773168" cy="58521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桌上有4块饼干，又放上3块，一共有几块？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64408"/>
            <a:ext cx="466344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1B3A6B"/>
                </a:solidFill>
                <a:latin typeface="PingFang SC"/>
              </a:rPr>
              <a:t>● ● ● ●   +   ● ● 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67328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980B9"/>
                </a:solidFill>
                <a:latin typeface="PingFang SC"/>
              </a:rPr>
              <a:t>4 + 3 = 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2120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73152" cy="12984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75104"/>
            <a:ext cx="477316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减法：拿走一部分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14016"/>
            <a:ext cx="4773168" cy="58521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有8个气球，飞走3个，还剩几个？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64408"/>
            <a:ext cx="466344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1B3A6B"/>
                </a:solidFill>
                <a:latin typeface="PingFang SC"/>
              </a:rPr>
              <a:t>● ● ● ● ● ● ● 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67328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C9A84C"/>
                </a:solidFill>
                <a:latin typeface="PingFang SC"/>
              </a:rPr>
              <a:t>划掉3个，数剩下的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10698480" cy="1005840"/>
          </a:xfrm>
          <a:prstGeom prst="roundRect">
            <a:avLst>
              <a:gd name="adj" fmla="val 12000"/>
            </a:avLst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791456"/>
            <a:ext cx="10149840" cy="5943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47854"/>
                </a:solidFill>
                <a:latin typeface="PingFang SC"/>
              </a:rPr>
              <a:t>亲子练习：请孩子自己画一画、数一数，再说说“我为什么这样算”。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A84C"/>
                </a:solidFill>
                <a:latin typeface="PingFang SC"/>
              </a:rPr>
              <a:t>04  钱币与找钱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3A6B"/>
                </a:solidFill>
                <a:latin typeface="PingFang SC"/>
              </a:rPr>
              <a:t>数钱买东西：生活里的加减法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A8D"/>
                </a:solidFill>
                <a:latin typeface="PingFang SC"/>
              </a:rPr>
              <a:t>认识钱币的价值，可以让数字和真实的买卖经验连起来。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45952" cy="13716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955279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A8D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3A6B"/>
                </a:solidFill>
                <a:latin typeface="PingFang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154680" cy="2423160"/>
          </a:xfrm>
          <a:prstGeom prst="roundRect">
            <a:avLst>
              <a:gd name="adj" fmla="val 12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48256"/>
            <a:ext cx="265176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B7A8D"/>
                </a:solidFill>
                <a:latin typeface="PingFang SC"/>
              </a:rPr>
              <a:t>玩具标价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42032"/>
            <a:ext cx="2651760" cy="7772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B3A6B"/>
                </a:solidFill>
                <a:latin typeface="PingFang SC"/>
              </a:rPr>
              <a:t>7元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456432"/>
            <a:ext cx="265176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我想买这个玩具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28800"/>
            <a:ext cx="3154680" cy="2423160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048256"/>
            <a:ext cx="265176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B7A8D"/>
                </a:solidFill>
                <a:latin typeface="PingFang SC"/>
              </a:rPr>
              <a:t>我付出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542032"/>
            <a:ext cx="2651760" cy="7772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980B9"/>
                </a:solidFill>
                <a:latin typeface="PingFang SC"/>
              </a:rPr>
              <a:t>10元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456432"/>
            <a:ext cx="265176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数一数付了多少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28800"/>
            <a:ext cx="3154680" cy="2423160"/>
          </a:xfrm>
          <a:prstGeom prst="roundRect">
            <a:avLst>
              <a:gd name="adj" fmla="val 12000"/>
            </a:avLst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2048256"/>
            <a:ext cx="265176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B7A8D"/>
                </a:solidFill>
                <a:latin typeface="PingFang SC"/>
              </a:rPr>
              <a:t>找回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542032"/>
            <a:ext cx="2651760" cy="7772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347854"/>
                </a:solidFill>
                <a:latin typeface="PingFang SC"/>
              </a:rPr>
              <a:t>3元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456432"/>
            <a:ext cx="265176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7854"/>
                </a:solidFill>
                <a:latin typeface="PingFang SC"/>
              </a:rPr>
              <a:t>10 - 7 =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17720"/>
            <a:ext cx="105613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791456"/>
            <a:ext cx="10012680" cy="6217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B3A6B"/>
                </a:solidFill>
                <a:latin typeface="PingFang SC"/>
              </a:rPr>
              <a:t>玩“小商店”：轮流当顾客和店主，练习读价格、数钱和找钱。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52160"/>
            <a:ext cx="10424160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A8D"/>
                </a:solidFill>
                <a:latin typeface="PingFang SC"/>
              </a:rPr>
              <a:t>金额和币种可按家庭日常使用的货币调整；先理解钱的价值，不急着算复杂找零。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A84C"/>
                </a:solidFill>
                <a:latin typeface="PingFang SC"/>
              </a:rPr>
              <a:t>05  数学游戏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3A6B"/>
                </a:solidFill>
                <a:latin typeface="PingFang SC"/>
              </a:rPr>
              <a:t>好玩的数学游戏：一起挑战24点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A8D"/>
                </a:solidFill>
                <a:latin typeface="PingFang SC"/>
              </a:rPr>
              <a:t>把几个数字组合起来得到目标数，让孩子尝试、比较并讲出自己的想法。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45952" cy="13716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955279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A8D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3A6B"/>
                </a:solidFill>
                <a:latin typeface="PingFang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33832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2423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56816"/>
            <a:ext cx="30175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B3A6B"/>
                </a:solidFill>
                <a:latin typeface="PingFang SC"/>
              </a:rPr>
              <a:t>比大小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41448"/>
            <a:ext cx="3017520" cy="16916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PingFang SC"/>
              </a:rPr>
              <a:t>抽两张数字卡，比一比谁的大。
说说理由：看十位，还是看个位？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832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828800"/>
            <a:ext cx="73152" cy="2423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56816"/>
            <a:ext cx="30175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B3A6B"/>
                </a:solidFill>
                <a:latin typeface="PingFang SC"/>
              </a:rPr>
              <a:t>凑8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41448"/>
            <a:ext cx="3017520" cy="16916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PingFang SC"/>
              </a:rPr>
              <a:t>抽取或摆出两组小物件，看看怎样合起来是8。
例如：3和5、6和2。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828800"/>
            <a:ext cx="33832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828800"/>
            <a:ext cx="73152" cy="2423160"/>
          </a:xfrm>
          <a:prstGeom prst="rect">
            <a:avLst/>
          </a:prstGeom>
          <a:solidFill>
            <a:srgbClr val="347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956816"/>
            <a:ext cx="30175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B3A6B"/>
                </a:solidFill>
                <a:latin typeface="PingFang SC"/>
              </a:rPr>
              <a:t>数字接龙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441448"/>
            <a:ext cx="3017520" cy="16916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PingFang SC"/>
              </a:rPr>
              <a:t>轮流接着数，可以从1开始，也可以每次加2或加10。
接不上时，一起找规律。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10744200" cy="1005840"/>
          </a:xfrm>
          <a:prstGeom prst="round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81728"/>
            <a:ext cx="102412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PingFang SC"/>
              </a:rPr>
              <a:t>还可以试试这些经典小游戏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1024128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B3A6B"/>
                </a:solidFill>
                <a:latin typeface="PingFang SC"/>
              </a:rPr>
              <a:t>找朋友凑十 · 数字宾果 · 按规律接龙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A84C"/>
                </a:solidFill>
                <a:latin typeface="PingFang SC"/>
              </a:rPr>
              <a:t>06  心算能力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3A6B"/>
                </a:solidFill>
                <a:latin typeface="PingFang SC"/>
              </a:rPr>
              <a:t>心算能力：在脑中灵活拆分数字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A8D"/>
                </a:solidFill>
                <a:latin typeface="PingFang SC"/>
              </a:rPr>
              <a:t>心算不是只比速度，而是看孩子能否理解数字关系并选择方便的方法。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45952" cy="13716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955279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A8D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3A6B"/>
                </a:solidFill>
                <a:latin typeface="PingFang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51206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75688"/>
            <a:ext cx="457200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B3A6B"/>
                </a:solidFill>
                <a:latin typeface="PingFang SC"/>
              </a:rPr>
              <a:t>例：8 + 4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70048"/>
            <a:ext cx="457200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980B9"/>
                </a:solidFill>
                <a:latin typeface="PingFang SC"/>
              </a:rPr>
              <a:t>8先加2凑成10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27248"/>
            <a:ext cx="457200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PingFang SC"/>
              </a:rPr>
              <a:t>4拆成2和2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84448"/>
            <a:ext cx="457200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347854"/>
                </a:solidFill>
                <a:latin typeface="PingFang SC"/>
              </a:rPr>
              <a:t>10 + 2 =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0749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73152" cy="2331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20824"/>
            <a:ext cx="463600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试试不同的想法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59736"/>
            <a:ext cx="4636008" cy="161848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PingFang SC"/>
              </a:rPr>
              <a:t>可以用凑十、拆分数字、数数等方法。
做完以后，请孩子讲讲自己是怎样想的。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17720"/>
            <a:ext cx="10561320" cy="1005840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91456"/>
            <a:ext cx="10104120" cy="5943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B3A6B"/>
                </a:solidFill>
                <a:latin typeface="PingFang SC"/>
              </a:rPr>
              <a:t>一分钟练习可以观察熟练度；先重视理解和正确，再慢慢提升速度。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A84C"/>
                </a:solidFill>
                <a:latin typeface="PingFang SC"/>
              </a:rPr>
              <a:t>07  数字在生活中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3035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3A6B"/>
                </a:solidFill>
                <a:latin typeface="PingFang SC"/>
              </a:rPr>
              <a:t>把数感带回每天的生活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A8D"/>
                </a:solidFill>
                <a:latin typeface="PingFang SC"/>
              </a:rPr>
              <a:t>孩子每天都能遇见数字，也能在观察、提问和尝试中练习数学。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45952" cy="13716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955279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7A8D"/>
                </a:solidFill>
                <a:latin typeface="PingFang SC"/>
              </a:rPr>
              <a:t>亲子趣味数学-数感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3A6B"/>
                </a:solidFill>
                <a:latin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2423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63600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今天来做“数字侦探”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14016"/>
            <a:ext cx="4636008" cy="1709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PingFang SC"/>
              </a:rPr>
              <a:t>找找家里的日历、时钟、门牌、价格和包装数字。
挑一个数字问问：它表示什么？还在哪里见过？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2423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63600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家长可以这样陪伴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6"/>
            <a:ext cx="4636008" cy="1709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PingFang SC"/>
              </a:rPr>
              <a:t>多问“你怎么发现的？”“还有别的方法吗？”
让孩子说出想法，允许尝试，也一起检查答案。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17720"/>
            <a:ext cx="10469880" cy="1051560"/>
          </a:xfrm>
          <a:prstGeom prst="roundRect">
            <a:avLst>
              <a:gd name="adj" fmla="val 12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773168"/>
            <a:ext cx="9966960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B3A6B"/>
                </a:solidFill>
                <a:latin typeface="PingFang SC"/>
              </a:rPr>
              <a:t>熟练的计算能力与灵活的数学思考，是继续学习数学和其他学科的重要基础。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25312"/>
            <a:ext cx="1024128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A8D"/>
                </a:solidFill>
                <a:latin typeface="PingFang SC"/>
              </a:rPr>
              <a:t>理解数字 · 观察规律 · 说出想法 · 用数学解决问题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亲子趣味数学-数感</dc:title>
  <dc:subject>一年级亲子数学活动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
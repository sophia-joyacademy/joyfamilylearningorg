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303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一年级数学 · 亲子共学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1115568"/>
            <a:ext cx="75895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亲子趣味数学</a:t>
            </a:r>
          </a:p>
          <a:p>
            <a:pPr algn="l">
              <a:spcAft>
                <a:spcPts val="0"/>
              </a:spcAft>
            </a:pPr>
            <a:r>
              <a:rPr sz="3800" b="1">
                <a:solidFill>
                  <a:srgbClr val="263B53"/>
                </a:solidFill>
                <a:latin typeface="PingFang SC"/>
              </a:rPr>
              <a:t>测量与几何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88920"/>
            <a:ext cx="8046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667789"/>
                </a:solidFill>
                <a:latin typeface="PingFang SC"/>
              </a:rPr>
              <a:t>看时间 · 量长度 · 找图形 · 练空间思维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59536" y="3502152"/>
            <a:ext cx="6912864" cy="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400" y="4069080"/>
            <a:ext cx="658368" cy="658368"/>
          </a:xfrm>
          <a:prstGeom prst="ellipse">
            <a:avLst/>
          </a:prstGeom>
          <a:solidFill>
            <a:srgbClr val="E7F0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980B9"/>
                </a:solidFill>
                <a:latin typeface="PingFang SC"/>
              </a:rPr>
              <a:t>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4133087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看时间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4069080"/>
            <a:ext cx="658368" cy="658368"/>
          </a:xfrm>
          <a:prstGeom prst="ellipse">
            <a:avLst/>
          </a:prstGeom>
          <a:solidFill>
            <a:srgbClr val="E7F3EC"/>
          </a:solidFill>
          <a:ln w="190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47854"/>
                </a:solidFill>
                <a:latin typeface="PingFang SC"/>
              </a:rPr>
              <a:t>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133087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量一量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4069080"/>
            <a:ext cx="658368" cy="658368"/>
          </a:xfrm>
          <a:prstGeom prst="ellipse">
            <a:avLst/>
          </a:prstGeom>
          <a:solidFill>
            <a:srgbClr val="F8EED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4187952"/>
            <a:ext cx="658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9A84C"/>
                </a:solidFill>
                <a:latin typeface="PingFang SC"/>
              </a:rPr>
              <a:t>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33087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找图形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715000"/>
            <a:ext cx="78638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从观察开始，让孩子说出自己的发现。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0" y="1097280"/>
            <a:ext cx="1645920" cy="1645920"/>
          </a:xfrm>
          <a:prstGeom prst="ellipse">
            <a:avLst/>
          </a:prstGeom>
          <a:solidFill>
            <a:srgbClr val="F8EED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720000">
            <a:off x="9829800" y="3127248"/>
            <a:ext cx="1325880" cy="1143000"/>
          </a:xfrm>
          <a:prstGeom prst="triangle">
            <a:avLst/>
          </a:prstGeom>
          <a:solidFill>
            <a:srgbClr val="E7F0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49840" y="4754880"/>
            <a:ext cx="1005840" cy="1005840"/>
          </a:xfrm>
          <a:prstGeom prst="rect">
            <a:avLst/>
          </a:prstGeom>
          <a:solidFill>
            <a:srgbClr val="E7F3EC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308592" y="2743200"/>
            <a:ext cx="1664208" cy="0"/>
          </a:xfrm>
          <a:prstGeom prst="line">
            <a:avLst/>
          </a:prstGeom>
          <a:ln w="254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72600" y="2660904"/>
            <a:ext cx="0" cy="164592"/>
          </a:xfrm>
          <a:prstGeom prst="line">
            <a:avLst/>
          </a:prstGeom>
          <a:ln w="1651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738360" y="2660904"/>
            <a:ext cx="0" cy="164592"/>
          </a:xfrm>
          <a:prstGeom prst="line">
            <a:avLst/>
          </a:prstGeom>
          <a:ln w="1651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04120" y="2660904"/>
            <a:ext cx="0" cy="164592"/>
          </a:xfrm>
          <a:prstGeom prst="line">
            <a:avLst/>
          </a:prstGeom>
          <a:ln w="1651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469880" y="2660904"/>
            <a:ext cx="0" cy="164592"/>
          </a:xfrm>
          <a:prstGeom prst="line">
            <a:avLst/>
          </a:prstGeom>
          <a:ln w="1651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35640" y="2660904"/>
            <a:ext cx="0" cy="164592"/>
          </a:xfrm>
          <a:prstGeom prst="line">
            <a:avLst/>
          </a:prstGeom>
          <a:ln w="1651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4672" y="6419088"/>
            <a:ext cx="10735056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开始探索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今天，我们做三件数学小事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数学不只在练习册里，也藏在钟表、玩具和家里的每个角落。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84831"/>
            <a:ext cx="3493008" cy="251460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84831"/>
            <a:ext cx="82296" cy="25146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看时间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24911"/>
            <a:ext cx="3054096" cy="1746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认识时针和分针，观察钟表，聊聊一天里的重要时刻。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084831"/>
            <a:ext cx="3493008" cy="251460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2084831"/>
            <a:ext cx="82296" cy="251460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267712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量长度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724911"/>
            <a:ext cx="3054096" cy="1746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先猜一猜，再用相同的单位测量，比较物品的长短。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084831"/>
            <a:ext cx="3493008" cy="2514600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2084831"/>
            <a:ext cx="82296" cy="25146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267712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找图形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724911"/>
            <a:ext cx="3054096" cy="1746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数一数边和角，比较图形的相同与不同，发现位置关系。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010912"/>
            <a:ext cx="10149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519379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亲子对话小提示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5157216"/>
            <a:ext cx="75438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多问：“你看见了什么？”“它们哪里一样？哪里不一样？”“你是怎么知道的？”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任务一 · 看钟表认时间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长针、短针，各有自己的工作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把钟表和孩子熟悉的生活安排联系起来，时间就更容易理解。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93392"/>
            <a:ext cx="3931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44752" y="2505456"/>
            <a:ext cx="2523744" cy="252374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706624" y="2631643"/>
            <a:ext cx="0" cy="113568"/>
          </a:xfrm>
          <a:prstGeom prst="line">
            <a:avLst/>
          </a:prstGeom>
          <a:ln w="2286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96896" y="2821289"/>
            <a:ext cx="2194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3B53"/>
                </a:solidFill>
                <a:latin typeface="PingFang SC"/>
              </a:rPr>
              <a:t>12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217682" y="2783796"/>
            <a:ext cx="56784" cy="98353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591802" y="3199485"/>
            <a:ext cx="98353" cy="56784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28740" y="3767328"/>
            <a:ext cx="113568" cy="0"/>
          </a:xfrm>
          <a:prstGeom prst="line">
            <a:avLst/>
          </a:prstGeom>
          <a:ln w="2286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42350" y="3666744"/>
            <a:ext cx="2194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3B53"/>
                </a:solidFill>
                <a:latin typeface="PingFang SC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91802" y="4278386"/>
            <a:ext cx="98353" cy="56784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17682" y="4652506"/>
            <a:ext cx="56784" cy="98353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06624" y="4789444"/>
            <a:ext cx="0" cy="113568"/>
          </a:xfrm>
          <a:prstGeom prst="line">
            <a:avLst/>
          </a:prstGeom>
          <a:ln w="2286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96896" y="4512198"/>
            <a:ext cx="2194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3B53"/>
                </a:solidFill>
                <a:latin typeface="PingFang SC"/>
              </a:rPr>
              <a:t>6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138781" y="4652506"/>
            <a:ext cx="56784" cy="98353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723092" y="4278386"/>
            <a:ext cx="98353" cy="56784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570939" y="3767328"/>
            <a:ext cx="113568" cy="0"/>
          </a:xfrm>
          <a:prstGeom prst="line">
            <a:avLst/>
          </a:prstGeom>
          <a:ln w="2286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51441" y="3666744"/>
            <a:ext cx="21945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263B53"/>
                </a:solidFill>
                <a:latin typeface="PingFang SC"/>
              </a:rPr>
              <a:t>9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23092" y="3199485"/>
            <a:ext cx="98353" cy="56784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138781" y="2783796"/>
            <a:ext cx="56784" cy="98353"/>
          </a:xfrm>
          <a:prstGeom prst="line">
            <a:avLst/>
          </a:prstGeom>
          <a:ln w="12700">
            <a:solidFill>
              <a:srgbClr val="66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706624" y="2909255"/>
            <a:ext cx="0" cy="858073"/>
          </a:xfrm>
          <a:prstGeom prst="line">
            <a:avLst/>
          </a:prstGeom>
          <a:ln w="381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06624" y="3767328"/>
            <a:ext cx="605698" cy="0"/>
          </a:xfrm>
          <a:prstGeom prst="line">
            <a:avLst/>
          </a:prstGeom>
          <a:ln w="63500">
            <a:solidFill>
              <a:srgbClr val="26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656332" y="3717036"/>
            <a:ext cx="100584" cy="1005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202936"/>
            <a:ext cx="1737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3B53"/>
                </a:solidFill>
                <a:latin typeface="PingFang SC"/>
              </a:rPr>
              <a:t>3:00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2011680"/>
            <a:ext cx="6263640" cy="132588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2011680"/>
            <a:ext cx="82296" cy="1325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194560"/>
            <a:ext cx="58247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先找长针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2651760"/>
            <a:ext cx="5824727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长针是分针。它指向12，表示刚好整点。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3593592"/>
            <a:ext cx="6263640" cy="132588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74920" y="3593592"/>
            <a:ext cx="82296" cy="132588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3776472"/>
            <a:ext cx="58247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再看短针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233672"/>
            <a:ext cx="5824727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短针是时针。它指向3，现在就是3点。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5175504"/>
            <a:ext cx="6263640" cy="658368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0952" y="5330952"/>
            <a:ext cx="5760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3B53"/>
                </a:solidFill>
                <a:latin typeface="PingFang SC"/>
              </a:rPr>
              <a:t>一起想想：长针指向6，短针在3和4之间，是几点半？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任务二 · 测量物体的长度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先猜一猜，再动手量一量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用非标准单位测量时，选同一种单位，首尾对齐，不能留空隙或重叠。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93392"/>
            <a:ext cx="67208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249424"/>
            <a:ext cx="3749039" cy="329184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99716"/>
            <a:ext cx="3602735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980B9"/>
                </a:solidFill>
                <a:latin typeface="PingFang SC"/>
              </a:rPr>
              <a:t>用相同大小的积木量一量铅笔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07792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67789"/>
                </a:solidFill>
                <a:latin typeface="PingFang SC"/>
              </a:rPr>
              <a:t>铅笔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4831" y="2862072"/>
            <a:ext cx="3657600" cy="402336"/>
          </a:xfrm>
          <a:prstGeom prst="rect">
            <a:avLst/>
          </a:prstGeom>
          <a:solidFill>
            <a:srgbClr val="F8EED2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20" y="3694176"/>
            <a:ext cx="621792" cy="512064"/>
          </a:xfrm>
          <a:prstGeom prst="rect">
            <a:avLst/>
          </a:prstGeom>
          <a:solidFill>
            <a:srgbClr val="E7F3EC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849624"/>
            <a:ext cx="6217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694176"/>
            <a:ext cx="621792" cy="512064"/>
          </a:xfrm>
          <a:prstGeom prst="rect">
            <a:avLst/>
          </a:prstGeom>
          <a:solidFill>
            <a:srgbClr val="E7F3EC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849624"/>
            <a:ext cx="6217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79" y="3694176"/>
            <a:ext cx="621792" cy="512064"/>
          </a:xfrm>
          <a:prstGeom prst="rect">
            <a:avLst/>
          </a:prstGeom>
          <a:solidFill>
            <a:srgbClr val="E7F3EC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3849624"/>
            <a:ext cx="6217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59" y="3694176"/>
            <a:ext cx="621792" cy="512064"/>
          </a:xfrm>
          <a:prstGeom prst="rect">
            <a:avLst/>
          </a:prstGeom>
          <a:solidFill>
            <a:srgbClr val="E7F3EC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9" y="3849624"/>
            <a:ext cx="6217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694176"/>
            <a:ext cx="621792" cy="512064"/>
          </a:xfrm>
          <a:prstGeom prst="rect">
            <a:avLst/>
          </a:prstGeom>
          <a:solidFill>
            <a:srgbClr val="E7F3EC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849624"/>
            <a:ext cx="6217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63B53"/>
                </a:solidFill>
                <a:latin typeface="PingFang SC"/>
              </a:rP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84831" y="3447288"/>
            <a:ext cx="0" cy="923544"/>
          </a:xfrm>
          <a:prstGeom prst="line">
            <a:avLst/>
          </a:prstGeom>
          <a:ln w="1778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85232" y="3447288"/>
            <a:ext cx="0" cy="923544"/>
          </a:xfrm>
          <a:prstGeom prst="line">
            <a:avLst/>
          </a:prstGeom>
          <a:ln w="1778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39696" y="436168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9776" y="436168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436168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9936" y="436168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4361688"/>
            <a:ext cx="457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074920"/>
            <a:ext cx="5394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铅笔大约和5块积木一样长。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1993392"/>
            <a:ext cx="3520440" cy="164592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1993392"/>
            <a:ext cx="82296" cy="1645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176272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① 起点对齐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633472"/>
            <a:ext cx="3081528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从同一条起点线开始测。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3858768"/>
            <a:ext cx="3520440" cy="182880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3858768"/>
            <a:ext cx="82296" cy="1828800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041648"/>
            <a:ext cx="30815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② 单位排整齐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498848"/>
            <a:ext cx="3081528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单位之间不留空隙、不重叠。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一起动手 · 估一估、量一量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谁更长？让测量来告诉我们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目测是一个好开始；用统一的方法测量，比较才更公平。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29968"/>
            <a:ext cx="3429000" cy="1901952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029968"/>
            <a:ext cx="82296" cy="19019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2212848"/>
            <a:ext cx="29900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先估一估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670048"/>
            <a:ext cx="2990088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不动手量，先猜猜：故事书和铅笔，谁更长？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029968"/>
            <a:ext cx="3429000" cy="190195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2029968"/>
            <a:ext cx="82296" cy="19019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212848"/>
            <a:ext cx="29900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再量一量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670048"/>
            <a:ext cx="2990088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可以用回形针、积木或纸条作单位；每样物品都用同一种单位。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029968"/>
            <a:ext cx="3429000" cy="190195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029968"/>
            <a:ext cx="82296" cy="1901952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212848"/>
            <a:ext cx="29900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说出发现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670048"/>
            <a:ext cx="2990088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“我猜___更长。量完发现___，因为___。”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352544"/>
            <a:ext cx="10241280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535424"/>
            <a:ext cx="1600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小小测量站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4517136"/>
            <a:ext cx="79095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44252"/>
                </a:solidFill>
                <a:latin typeface="PingFang SC"/>
              </a:rPr>
              <a:t>找三样安全的小物品排排队：最短 → 最长。你能用同一种单位验证自己的排序吗？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任务三 · 识别常见图形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家里藏着好多图形朋友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找一找、指一指，再说说你是根据什么特征认出来的。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21408"/>
            <a:ext cx="2157984" cy="242316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2441448"/>
            <a:ext cx="786384" cy="7863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19385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圆形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67789"/>
                </a:solidFill>
                <a:latin typeface="PingFang SC"/>
              </a:rPr>
              <a:t>盘子 / 时钟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2121408"/>
            <a:ext cx="2157984" cy="2423160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4288536" y="2414016"/>
            <a:ext cx="822960" cy="822960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3520440"/>
            <a:ext cx="19385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三角形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950208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67789"/>
                </a:solidFill>
                <a:latin typeface="PingFang SC"/>
              </a:rPr>
              <a:t>衣架 / 路牌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121408"/>
            <a:ext cx="2157984" cy="2423160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2450592"/>
            <a:ext cx="749808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520440"/>
            <a:ext cx="19385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正方形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950208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67789"/>
                </a:solidFill>
                <a:latin typeface="PingFang SC"/>
              </a:rPr>
              <a:t>方形便签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121408"/>
            <a:ext cx="215798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11512" y="2551176"/>
            <a:ext cx="10241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7" y="3520440"/>
            <a:ext cx="19385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长方形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3950208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67789"/>
                </a:solidFill>
                <a:latin typeface="PingFang SC"/>
              </a:rPr>
              <a:t>书本 / 窗户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01768"/>
            <a:ext cx="10332720" cy="79552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193792"/>
            <a:ext cx="9692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63B53"/>
                </a:solidFill>
                <a:latin typeface="PingFang SC"/>
              </a:rPr>
              <a:t>挑战：找一个家里的物品，告诉大家“它像___，我发现它有___”。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观察与数一数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图形有几条直边、几个角？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用手指沿着图形走一圈：一边一边数，角也别漏掉。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0704" y="2176272"/>
            <a:ext cx="285292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2020824" y="2587752"/>
            <a:ext cx="960120" cy="987552"/>
          </a:xfrm>
          <a:prstGeom prst="triangle">
            <a:avLst/>
          </a:prstGeom>
          <a:solidFill>
            <a:srgbClr val="E7F0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4005072"/>
            <a:ext cx="24871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三角形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4489704"/>
            <a:ext cx="24871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7789"/>
                </a:solidFill>
                <a:latin typeface="PingFang SC"/>
              </a:rPr>
              <a:t>3条直边 · 3个角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2176272"/>
            <a:ext cx="285292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31536" y="2743200"/>
            <a:ext cx="1261872" cy="768096"/>
          </a:xfrm>
          <a:prstGeom prst="rect">
            <a:avLst/>
          </a:prstGeom>
          <a:solidFill>
            <a:srgbClr val="E7F3EC"/>
          </a:solidFill>
          <a:ln w="254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4005072"/>
            <a:ext cx="24871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长方形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4489704"/>
            <a:ext cx="24871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7789"/>
                </a:solidFill>
                <a:latin typeface="PingFang SC"/>
              </a:rPr>
              <a:t>4条直边 · 4个角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2176272"/>
            <a:ext cx="285292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08008" y="2697480"/>
            <a:ext cx="1005840" cy="1005840"/>
          </a:xfrm>
          <a:prstGeom prst="ellipse">
            <a:avLst/>
          </a:prstGeom>
          <a:solidFill>
            <a:srgbClr val="F8EED2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4005072"/>
            <a:ext cx="24871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63B53"/>
                </a:solidFill>
                <a:latin typeface="PingFang SC"/>
              </a:rPr>
              <a:t>圆形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4489704"/>
            <a:ext cx="24871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67789"/>
                </a:solidFill>
                <a:latin typeface="PingFang SC"/>
              </a:rPr>
              <a:t>没有直边 · 没有角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650992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家长可以问：你数到哪里了？怎么确定没有多算或漏算？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比较与归纳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找相同，也找不同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仔细观察颜色、大小、方向和边角特征；不同的图形也可能有共同点。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29968"/>
            <a:ext cx="512064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2249424"/>
            <a:ext cx="3154680" cy="329184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299716"/>
            <a:ext cx="30083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3B53"/>
                </a:solidFill>
                <a:latin typeface="PingFang SC"/>
              </a:rPr>
              <a:t>看一看这两个三角形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1481328" y="2926080"/>
            <a:ext cx="1170432" cy="1170432"/>
          </a:xfrm>
          <a:prstGeom prst="triangle">
            <a:avLst/>
          </a:prstGeom>
          <a:solidFill>
            <a:srgbClr val="E7F0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730752" y="2999232"/>
            <a:ext cx="877824" cy="877824"/>
          </a:xfrm>
          <a:prstGeom prst="triangle">
            <a:avLst/>
          </a:prstGeom>
          <a:solidFill>
            <a:srgbClr val="F8EED2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425696"/>
            <a:ext cx="4251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B53"/>
                </a:solidFill>
                <a:latin typeface="PingFang SC"/>
              </a:rPr>
              <a:t>一样大吗？方向一样吗？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029968"/>
            <a:ext cx="5138928" cy="340156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E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331720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47854"/>
                </a:solidFill>
                <a:latin typeface="PingFang SC"/>
              </a:rPr>
              <a:t>我们发现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852928"/>
            <a:ext cx="429768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>相同：都是三角形，都有3条直边和3个角。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44252"/>
                </a:solidFill>
                <a:latin typeface="PingFang SC"/>
              </a:rPr>
              <a:t>不同：颜色、大小或摆放方向可能不同。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1" y="5650992"/>
            <a:ext cx="10104120" cy="429768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724144"/>
            <a:ext cx="9692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63B53"/>
                </a:solidFill>
                <a:latin typeface="PingFang SC"/>
              </a:rPr>
              <a:t>练习表达：“它们都___，但是___不一样。”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空间思维 · 说清位置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上面、下面、左边、右边……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描述物体的位置，能帮助孩子在脑中建立空间关系，也让表达更清楚。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29968"/>
            <a:ext cx="5943600" cy="3822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30368" y="2404872"/>
            <a:ext cx="530352" cy="530352"/>
          </a:xfrm>
          <a:prstGeom prst="ellipse">
            <a:avLst/>
          </a:prstGeom>
          <a:solidFill>
            <a:srgbClr val="F8EED2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94376" y="2478024"/>
            <a:ext cx="384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C9A84C"/>
                </a:solidFill>
                <a:latin typeface="PingFang SC"/>
              </a:rPr>
              <a:t>☀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331720" y="2834640"/>
            <a:ext cx="1874519" cy="1298448"/>
          </a:xfrm>
          <a:prstGeom prst="triangle">
            <a:avLst/>
          </a:prstGeom>
          <a:solidFill>
            <a:srgbClr val="E7F0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78608" y="3730752"/>
            <a:ext cx="1389888" cy="1152144"/>
          </a:xfrm>
          <a:prstGeom prst="rect">
            <a:avLst/>
          </a:prstGeom>
          <a:solidFill>
            <a:srgbClr val="F8EED2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4368" y="4133087"/>
            <a:ext cx="65836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517136"/>
            <a:ext cx="841248" cy="841248"/>
          </a:xfrm>
          <a:prstGeom prst="ellipse">
            <a:avLst/>
          </a:prstGeom>
          <a:solidFill>
            <a:srgbClr val="E7F3EC"/>
          </a:solidFill>
          <a:ln w="1905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764024"/>
            <a:ext cx="84124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47854"/>
                </a:solidFill>
                <a:latin typeface="PingFang SC"/>
              </a:rPr>
              <a:t>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5038344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房子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404104"/>
            <a:ext cx="5303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3B53"/>
                </a:solidFill>
                <a:latin typeface="PingFang SC"/>
              </a:rPr>
              <a:t>说一说：太阳在哪里？树在房子的哪一边？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5472" y="2148840"/>
            <a:ext cx="3977639" cy="1298448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05472" y="2148840"/>
            <a:ext cx="82296" cy="12984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1" y="2331720"/>
            <a:ext cx="35387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位置词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1" y="2788920"/>
            <a:ext cx="3538727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在……上面 / 下面 / 左边 / 右边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在……里面 / 外面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5472" y="3712463"/>
            <a:ext cx="3977639" cy="1298448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5472" y="3712463"/>
            <a:ext cx="82296" cy="1298448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1" y="3895344"/>
            <a:ext cx="35387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动一动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1" y="4352544"/>
            <a:ext cx="3538727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转一转图形，挪一挪积木：位置变了，形状有没有变？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亲子游戏 · 在家就能玩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把数学藏进每天的游戏里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每次玩5—10分钟即可；重点是一起观察、尝试，并听孩子讲理由。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66543"/>
            <a:ext cx="5074920" cy="1444752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066543"/>
            <a:ext cx="82296" cy="14447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249424"/>
            <a:ext cx="46360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家庭寻形记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706624"/>
            <a:ext cx="463600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轮流找圆形、三角形和四边形物品，说出依据。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066543"/>
            <a:ext cx="5074920" cy="1444752"/>
          </a:xfrm>
          <a:prstGeom prst="roundRect">
            <a:avLst/>
          </a:prstGeom>
          <a:solidFill>
            <a:srgbClr val="E7F3E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2066543"/>
            <a:ext cx="82296" cy="1444752"/>
          </a:xfrm>
          <a:prstGeom prst="rect">
            <a:avLst/>
          </a:prstGeom>
          <a:solidFill>
            <a:srgbClr val="347854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249424"/>
            <a:ext cx="46360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先猜再测量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706624"/>
            <a:ext cx="463600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选几样物品，先排长短，再用相同的积木量一量。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767328"/>
            <a:ext cx="5074920" cy="1444752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767328"/>
            <a:ext cx="82296" cy="14447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950208"/>
            <a:ext cx="46360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小小建筑师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407408"/>
            <a:ext cx="463600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一人搭积木，另一人观察后尝试搭出相同造型。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767328"/>
            <a:ext cx="507492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3767328"/>
            <a:ext cx="82296" cy="14447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950208"/>
            <a:ext cx="463600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钟表小任务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407408"/>
            <a:ext cx="4636008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44252"/>
                </a:solidFill>
                <a:latin typeface="PingFang SC"/>
              </a:rPr>
              <a:t>结合起床、吃饭、出门时间，一起看看钟面。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" y="5650992"/>
            <a:ext cx="10241280" cy="429768"/>
          </a:xfrm>
          <a:prstGeom prst="roundRect">
            <a:avLst/>
          </a:prstGeom>
          <a:solidFill>
            <a:srgbClr val="F8EED2"/>
          </a:solidFill>
          <a:ln w="12700">
            <a:solidFill>
              <a:srgbClr val="F8E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5724144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63B53"/>
                </a:solidFill>
                <a:latin typeface="PingFang SC"/>
              </a:rPr>
              <a:t>小提醒：选择安全、大小合适的物品；小物件请家长陪同使用。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01168"/>
            <a:ext cx="9784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带回生活 · 家庭小任务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53035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3B53"/>
                </a:solidFill>
                <a:latin typeface="PingFang SC"/>
              </a:rPr>
              <a:t>今天，你成了数学小侦探！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789"/>
                </a:solidFill>
                <a:latin typeface="PingFang SC"/>
              </a:rPr>
              <a:t>用自己的眼睛发现，用小手试一试，再把想法讲给家人听。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00784"/>
            <a:ext cx="10899648" cy="0"/>
          </a:xfrm>
          <a:prstGeom prst="line">
            <a:avLst/>
          </a:prstGeom>
          <a:ln w="1778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6419088"/>
            <a:ext cx="10899648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92240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67789"/>
                </a:solidFill>
                <a:latin typeface="PingFang SC"/>
              </a:rPr>
              <a:t>亲子趣味数学 · 测量与几何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347854"/>
                </a:solidFill>
                <a:latin typeface="PingFang S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057400"/>
            <a:ext cx="6537960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40864"/>
            <a:ext cx="3291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63B53"/>
                </a:solidFill>
                <a:latin typeface="PingFang SC"/>
              </a:rPr>
              <a:t>完成三件小任务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2980944"/>
            <a:ext cx="365760" cy="365760"/>
          </a:xfrm>
          <a:prstGeom prst="ellipse">
            <a:avLst/>
          </a:prstGeom>
          <a:solidFill>
            <a:srgbClr val="E7F3EC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35808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08375"/>
            <a:ext cx="5166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找一件物品，用同一种单位量一量。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3666744"/>
            <a:ext cx="365760" cy="365760"/>
          </a:xfrm>
          <a:prstGeom prst="ellipse">
            <a:avLst/>
          </a:prstGeom>
          <a:solidFill>
            <a:srgbClr val="E7F3EC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21607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94176"/>
            <a:ext cx="5166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找到两个图形，说出一个相同点和一个不同点。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352544"/>
            <a:ext cx="365760" cy="365760"/>
          </a:xfrm>
          <a:prstGeom prst="ellipse">
            <a:avLst/>
          </a:prstGeom>
          <a:solidFill>
            <a:srgbClr val="E7F3EC"/>
          </a:solidFill>
          <a:ln w="12700">
            <a:solidFill>
              <a:srgbClr val="347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07407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47854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79976"/>
            <a:ext cx="5166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44252"/>
                </a:solidFill>
                <a:latin typeface="PingFang SC"/>
              </a:rPr>
              <a:t>用“上、下、左、右”描述家里一个物品的位置。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322576"/>
            <a:ext cx="3310128" cy="2688336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633472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980B9"/>
                </a:solidFill>
                <a:latin typeface="PingFang SC"/>
              </a:rPr>
              <a:t>我会这样说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273552"/>
            <a:ext cx="2560320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我发现……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它们都……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263B53"/>
                </a:solidFill>
                <a:latin typeface="PingFang SC"/>
              </a:rPr>
              <a:t>我这样想，因为……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347854"/>
                </a:solidFill>
                <a:latin typeface="PingFang SC"/>
              </a:rPr>
              <a:t>看见特征 · 比较异同 · 说出理由 · 用数学理解生活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
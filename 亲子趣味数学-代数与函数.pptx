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30352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47854"/>
                </a:solidFill>
                <a:latin typeface="PingFang SC"/>
              </a:rPr>
              <a:t>一年级数学 · 亲子共学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115568"/>
            <a:ext cx="758952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263B53"/>
                </a:solidFill>
                <a:latin typeface="PingFang SC"/>
              </a:rPr>
              <a:t>亲子趣味数学</a:t>
            </a:r>
          </a:p>
          <a:p>
            <a:pPr algn="l">
              <a:spcAft>
                <a:spcPts val="0"/>
              </a:spcAft>
            </a:pPr>
            <a:r>
              <a:rPr sz="3800" b="1">
                <a:solidFill>
                  <a:srgbClr val="263B53"/>
                </a:solidFill>
                <a:latin typeface="PingFang SC"/>
              </a:rPr>
              <a:t>代数与函数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788920"/>
            <a:ext cx="8412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67789"/>
                </a:solidFill>
                <a:latin typeface="PingFang SC"/>
              </a:rPr>
              <a:t>看懂数字和符号的关系，把生活故事写成算式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59536" y="3502152"/>
            <a:ext cx="6912864" cy="0"/>
          </a:xfrm>
          <a:prstGeom prst="line">
            <a:avLst/>
          </a:prstGeom>
          <a:ln w="254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14400" y="4069080"/>
            <a:ext cx="658368" cy="658368"/>
          </a:xfrm>
          <a:prstGeom prst="ellipse">
            <a:avLst/>
          </a:prstGeom>
          <a:solidFill>
            <a:srgbClr val="E7F0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65836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2980B9"/>
                </a:solidFill>
                <a:latin typeface="PingFang SC"/>
              </a:rPr>
              <a:t>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4133087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3B53"/>
                </a:solidFill>
                <a:latin typeface="PingFang SC"/>
              </a:rPr>
              <a:t>看见数量</a:t>
            </a:r>
          </a:p>
        </p:txBody>
      </p:sp>
      <p:sp>
        <p:nvSpPr>
          <p:cNvPr id="9" name="Oval 8"/>
          <p:cNvSpPr/>
          <p:nvPr/>
        </p:nvSpPr>
        <p:spPr>
          <a:xfrm>
            <a:off x="3429000" y="4069080"/>
            <a:ext cx="658368" cy="658368"/>
          </a:xfrm>
          <a:prstGeom prst="ellipse">
            <a:avLst/>
          </a:prstGeom>
          <a:solidFill>
            <a:srgbClr val="E7F3EC"/>
          </a:solidFill>
          <a:ln w="1905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4160520"/>
            <a:ext cx="65836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347854"/>
                </a:solidFill>
                <a:latin typeface="PingFang SC"/>
              </a:rPr>
              <a:t>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4133087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3B53"/>
                </a:solidFill>
                <a:latin typeface="PingFang SC"/>
              </a:rPr>
              <a:t>连接数量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0" y="4069080"/>
            <a:ext cx="658368" cy="658368"/>
          </a:xfrm>
          <a:prstGeom prst="ellipse">
            <a:avLst/>
          </a:prstGeom>
          <a:solidFill>
            <a:srgbClr val="F8EED2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4160520"/>
            <a:ext cx="65836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C9A84C"/>
                </a:solidFill>
                <a:latin typeface="PingFang SC"/>
              </a:rPr>
              <a:t>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133087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3B53"/>
                </a:solidFill>
                <a:latin typeface="PingFang SC"/>
              </a:rPr>
              <a:t>表达相等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715000"/>
            <a:ext cx="8595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>从真实的故事出发，让算式说出数量之间的关系。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417320"/>
            <a:ext cx="1920240" cy="749808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581912"/>
            <a:ext cx="1828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63B53"/>
                </a:solidFill>
                <a:latin typeface="PingFang SC"/>
              </a:rPr>
              <a:t>3 + 2 = 5</a:t>
            </a:r>
          </a:p>
        </p:txBody>
      </p:sp>
      <p:sp>
        <p:nvSpPr>
          <p:cNvPr id="18" name="Oval 17"/>
          <p:cNvSpPr/>
          <p:nvPr/>
        </p:nvSpPr>
        <p:spPr>
          <a:xfrm>
            <a:off x="9464040" y="3063240"/>
            <a:ext cx="265176" cy="265176"/>
          </a:xfrm>
          <a:prstGeom prst="ellipse">
            <a:avLst/>
          </a:prstGeom>
          <a:solidFill>
            <a:srgbClr val="2980B9"/>
          </a:solidFill>
          <a:ln w="63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02368" y="3063240"/>
            <a:ext cx="265176" cy="265176"/>
          </a:xfrm>
          <a:prstGeom prst="ellipse">
            <a:avLst/>
          </a:prstGeom>
          <a:solidFill>
            <a:srgbClr val="2980B9"/>
          </a:solidFill>
          <a:ln w="63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40696" y="3063240"/>
            <a:ext cx="265176" cy="265176"/>
          </a:xfrm>
          <a:prstGeom prst="ellipse">
            <a:avLst/>
          </a:prstGeom>
          <a:solidFill>
            <a:srgbClr val="2980B9"/>
          </a:solidFill>
          <a:ln w="63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15600" y="3063240"/>
            <a:ext cx="265176" cy="265176"/>
          </a:xfrm>
          <a:prstGeom prst="ellipse">
            <a:avLst/>
          </a:prstGeom>
          <a:solidFill>
            <a:srgbClr val="C9A84C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53928" y="3063240"/>
            <a:ext cx="265176" cy="265176"/>
          </a:xfrm>
          <a:prstGeom prst="ellipse">
            <a:avLst/>
          </a:prstGeom>
          <a:solidFill>
            <a:srgbClr val="C9A84C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04672" y="6419088"/>
            <a:ext cx="10735056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代数与函数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开始探索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数字句子和算式，能告诉我们什么？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今天，我们观察数量、运算符号和等号，试着用加法算式表达生活里的故事。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代数与函数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121408"/>
            <a:ext cx="3401568" cy="2066543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2121408"/>
            <a:ext cx="82296" cy="2066543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286000"/>
            <a:ext cx="2971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看数字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688336"/>
            <a:ext cx="2962656" cy="140817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数字告诉我们有多少。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例如：桌上有3个苹果。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121408"/>
            <a:ext cx="3401568" cy="2066543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121408"/>
            <a:ext cx="82296" cy="2066543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286000"/>
            <a:ext cx="2971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看符号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88336"/>
            <a:ext cx="2962656" cy="140817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“＋”把两个数量合在一起。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“＝”表示左右两边一样多。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121408"/>
            <a:ext cx="3401568" cy="2066543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73568" y="2121408"/>
            <a:ext cx="82296" cy="2066543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2286000"/>
            <a:ext cx="2971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写算式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688336"/>
            <a:ext cx="2962656" cy="140817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把故事里的数量关系写下来，再读一读、检查答案。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" y="4754880"/>
            <a:ext cx="102412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5010912"/>
            <a:ext cx="1508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7854"/>
                </a:solidFill>
                <a:latin typeface="PingFang SC"/>
              </a:rPr>
              <a:t>亲子对话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7792" y="4965192"/>
            <a:ext cx="79095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“故事里有几个数量？”“它们发生了什么？”“哪个算式能表示？”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认识数字句子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算式里的每个符号，都有工作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用具体物品摆一摆，再把看到的数量关系写成数字句子。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代数与函数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104698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286000"/>
            <a:ext cx="9738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3个蓝色积木，加上2个黄色积木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3063240"/>
            <a:ext cx="475488" cy="475488"/>
          </a:xfrm>
          <a:prstGeom prst="rect">
            <a:avLst/>
          </a:prstGeom>
          <a:solidFill>
            <a:srgbClr val="E7F0F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42032" y="3063240"/>
            <a:ext cx="475488" cy="475488"/>
          </a:xfrm>
          <a:prstGeom prst="rect">
            <a:avLst/>
          </a:prstGeom>
          <a:solidFill>
            <a:srgbClr val="E7F0F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63824" y="3063240"/>
            <a:ext cx="475488" cy="475488"/>
          </a:xfrm>
          <a:prstGeom prst="rect">
            <a:avLst/>
          </a:prstGeom>
          <a:solidFill>
            <a:srgbClr val="E7F0F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80" y="3035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47854"/>
                </a:solidFill>
                <a:latin typeface="PingFang SC"/>
              </a:rPr>
              <a:t>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3063240"/>
            <a:ext cx="475488" cy="475488"/>
          </a:xfrm>
          <a:prstGeom prst="rect">
            <a:avLst/>
          </a:prstGeom>
          <a:solidFill>
            <a:srgbClr val="F8EED2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22392" y="3063240"/>
            <a:ext cx="475488" cy="475488"/>
          </a:xfrm>
          <a:prstGeom prst="rect">
            <a:avLst/>
          </a:prstGeom>
          <a:solidFill>
            <a:srgbClr val="F8EED2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035808"/>
            <a:ext cx="53035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C9A84C"/>
                </a:solidFill>
                <a:latin typeface="PingFang SC"/>
              </a:rPr>
              <a:t>=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3063240"/>
            <a:ext cx="384048" cy="475488"/>
          </a:xfrm>
          <a:prstGeom prst="rect">
            <a:avLst/>
          </a:prstGeom>
          <a:solidFill>
            <a:srgbClr val="E7F0F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3063240"/>
            <a:ext cx="384048" cy="475488"/>
          </a:xfrm>
          <a:prstGeom prst="rect">
            <a:avLst/>
          </a:prstGeom>
          <a:solidFill>
            <a:srgbClr val="E7F0F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3063240"/>
            <a:ext cx="384048" cy="475488"/>
          </a:xfrm>
          <a:prstGeom prst="rect">
            <a:avLst/>
          </a:prstGeom>
          <a:solidFill>
            <a:srgbClr val="E7F0F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3063240"/>
            <a:ext cx="384048" cy="475488"/>
          </a:xfrm>
          <a:prstGeom prst="rect">
            <a:avLst/>
          </a:prstGeom>
          <a:solidFill>
            <a:srgbClr val="F8EED2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3063240"/>
            <a:ext cx="384048" cy="475488"/>
          </a:xfrm>
          <a:prstGeom prst="rect">
            <a:avLst/>
          </a:prstGeom>
          <a:solidFill>
            <a:srgbClr val="F8EED2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3822191"/>
            <a:ext cx="822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2980B9"/>
                </a:solidFill>
                <a:latin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822191"/>
            <a:ext cx="53035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347854"/>
                </a:solidFill>
                <a:latin typeface="PingFang SC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822191"/>
            <a:ext cx="822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C9A84C"/>
                </a:solidFill>
                <a:latin typeface="PingFang SC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822191"/>
            <a:ext cx="53035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C9A84C"/>
                </a:solidFill>
                <a:latin typeface="PingFang SC"/>
              </a:rPr>
              <a:t>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822191"/>
            <a:ext cx="822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263B53"/>
                </a:solidFill>
                <a:latin typeface="PingFang S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67328" y="4617720"/>
            <a:ext cx="43891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263B53"/>
                </a:solidFill>
                <a:latin typeface="PingFang SC"/>
              </a:rPr>
              <a:t>3 + 2 =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266944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667789"/>
                </a:solidFill>
                <a:latin typeface="PingFang SC"/>
              </a:rPr>
              <a:t>3和2合起来是5。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认识等号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等号不是“答案在后面”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等号表示：左边和右边的数量一样多。两边交换位置，数量关系仍然成立。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代数与函数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057400"/>
            <a:ext cx="4956048" cy="1225296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50008"/>
            <a:ext cx="20574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263B53"/>
                </a:solidFill>
                <a:latin typeface="PingFang SC"/>
              </a:rPr>
              <a:t>3 + 2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2350008"/>
            <a:ext cx="54864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C9A84C"/>
                </a:solidFill>
                <a:latin typeface="PingFang SC"/>
              </a:rPr>
              <a:t>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350008"/>
            <a:ext cx="77724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263B53"/>
                </a:solidFill>
                <a:latin typeface="PingFang SC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057400"/>
            <a:ext cx="4956048" cy="1225296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E7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2350008"/>
            <a:ext cx="77724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263B53"/>
                </a:solidFill>
                <a:latin typeface="PingFang S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2350008"/>
            <a:ext cx="54864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C9A84C"/>
                </a:solidFill>
                <a:latin typeface="PingFang SC"/>
              </a:rPr>
              <a:t>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350008"/>
            <a:ext cx="233172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263B53"/>
                </a:solidFill>
                <a:latin typeface="PingFang SC"/>
              </a:rPr>
              <a:t>2 + 3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3730752"/>
            <a:ext cx="449884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" y="3730752"/>
            <a:ext cx="82296" cy="122529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2728" y="3895344"/>
            <a:ext cx="4069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左边的总数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297680"/>
            <a:ext cx="4059935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3和2合起来是5。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6248" y="3730752"/>
            <a:ext cx="449884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56248" y="3730752"/>
            <a:ext cx="82296" cy="1225296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3895344"/>
            <a:ext cx="4069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右边的总数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4297680"/>
            <a:ext cx="4059935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5也是5，所以两边一样多。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596128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47854"/>
                </a:solidFill>
                <a:latin typeface="PingFang SC"/>
              </a:rPr>
              <a:t>亲子小检查：4 + 1 = 5 对吗？你能用物品摆出来验证吗？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理解加法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加法：两个数量合在一起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看到“又来了、放进来、合起来”，可以想一想是不是把两部分合并。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代数与函数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11680"/>
            <a:ext cx="5532120" cy="3621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286000"/>
            <a:ext cx="49834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63B53"/>
                </a:solidFill>
                <a:latin typeface="PingFang SC"/>
              </a:rPr>
              <a:t>盘子里先有4块饼干，又放进2块。</a:t>
            </a:r>
          </a:p>
        </p:txBody>
      </p:sp>
      <p:sp>
        <p:nvSpPr>
          <p:cNvPr id="11" name="Oval 10"/>
          <p:cNvSpPr/>
          <p:nvPr/>
        </p:nvSpPr>
        <p:spPr>
          <a:xfrm>
            <a:off x="1417320" y="2999232"/>
            <a:ext cx="493776" cy="493776"/>
          </a:xfrm>
          <a:prstGeom prst="ellipse">
            <a:avLst/>
          </a:prstGeom>
          <a:solidFill>
            <a:srgbClr val="F8EED2"/>
          </a:solidFill>
          <a:ln w="1651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48840" y="2999232"/>
            <a:ext cx="493776" cy="493776"/>
          </a:xfrm>
          <a:prstGeom prst="ellipse">
            <a:avLst/>
          </a:prstGeom>
          <a:solidFill>
            <a:srgbClr val="F8EED2"/>
          </a:solidFill>
          <a:ln w="1651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80360" y="2999232"/>
            <a:ext cx="493776" cy="493776"/>
          </a:xfrm>
          <a:prstGeom prst="ellipse">
            <a:avLst/>
          </a:prstGeom>
          <a:solidFill>
            <a:srgbClr val="F8EED2"/>
          </a:solidFill>
          <a:ln w="1651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11880" y="2999232"/>
            <a:ext cx="493776" cy="493776"/>
          </a:xfrm>
          <a:prstGeom prst="ellipse">
            <a:avLst/>
          </a:prstGeom>
          <a:solidFill>
            <a:srgbClr val="F8EED2"/>
          </a:solidFill>
          <a:ln w="1651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48840" y="3703320"/>
            <a:ext cx="493776" cy="493776"/>
          </a:xfrm>
          <a:prstGeom prst="ellipse">
            <a:avLst/>
          </a:prstGeom>
          <a:solidFill>
            <a:srgbClr val="E7F0FA"/>
          </a:solidFill>
          <a:ln w="1651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80360" y="3703320"/>
            <a:ext cx="493776" cy="493776"/>
          </a:xfrm>
          <a:prstGeom prst="ellipse">
            <a:avLst/>
          </a:prstGeom>
          <a:solidFill>
            <a:srgbClr val="E7F0FA"/>
          </a:solidFill>
          <a:ln w="1651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4434840"/>
            <a:ext cx="1280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C9A84C"/>
                </a:solidFill>
                <a:latin typeface="PingFang SC"/>
              </a:rPr>
              <a:t>4块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434840"/>
            <a:ext cx="1417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980B9"/>
                </a:solidFill>
                <a:latin typeface="PingFang SC"/>
              </a:rPr>
              <a:t>+ 2块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2084831"/>
            <a:ext cx="4160520" cy="1298448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2084831"/>
            <a:ext cx="82296" cy="12984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2249424"/>
            <a:ext cx="37307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故事里的数量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651760"/>
            <a:ext cx="3721608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原来有4块，又放进2块。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3675887"/>
            <a:ext cx="4160520" cy="1298448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03720" y="3675887"/>
            <a:ext cx="82296" cy="1298448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3840479"/>
            <a:ext cx="37307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写成加法算式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242816"/>
            <a:ext cx="3721608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4 + 2 = 6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一共有6块饼干。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806440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47854"/>
                </a:solidFill>
                <a:latin typeface="PingFang SC"/>
              </a:rPr>
              <a:t>把故事读一遍，再读算式：4加2等于6。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把故事写成加法算式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先找数量，再选择数字和符号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用画图、圈关键词和讲故事的方法，帮助孩子把情境转成算式。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代数与函数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29968"/>
            <a:ext cx="10287000" cy="868680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F8E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267712"/>
            <a:ext cx="9784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花园里有3只小鸟，又飞来4只。现在有几只小鸟？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3337560"/>
            <a:ext cx="502920" cy="502920"/>
          </a:xfrm>
          <a:prstGeom prst="ellipse">
            <a:avLst/>
          </a:prstGeom>
          <a:solidFill>
            <a:srgbClr val="E7F0FA"/>
          </a:solidFill>
          <a:ln w="1524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456432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980B9"/>
                </a:solidFill>
                <a:latin typeface="PingFang S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005072"/>
            <a:ext cx="3337560" cy="114300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4005072"/>
            <a:ext cx="82296" cy="11430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169663"/>
            <a:ext cx="290779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找数量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572000"/>
            <a:ext cx="2898648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原来3只，又来4只。</a:t>
            </a:r>
          </a:p>
        </p:txBody>
      </p:sp>
      <p:sp>
        <p:nvSpPr>
          <p:cNvPr id="17" name="Oval 16"/>
          <p:cNvSpPr/>
          <p:nvPr/>
        </p:nvSpPr>
        <p:spPr>
          <a:xfrm>
            <a:off x="4681728" y="3337560"/>
            <a:ext cx="502920" cy="502920"/>
          </a:xfrm>
          <a:prstGeom prst="ellipse">
            <a:avLst/>
          </a:prstGeom>
          <a:solidFill>
            <a:srgbClr val="E7F3EC"/>
          </a:solidFill>
          <a:ln w="1524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3456432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47854"/>
                </a:solidFill>
                <a:latin typeface="PingFang S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8848" y="4005072"/>
            <a:ext cx="3337560" cy="114300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98848" y="4005072"/>
            <a:ext cx="82296" cy="1143000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448" y="4169663"/>
            <a:ext cx="290779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想关系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572000"/>
            <a:ext cx="2898648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两部分合起来，用加法。</a:t>
            </a:r>
          </a:p>
        </p:txBody>
      </p:sp>
      <p:sp>
        <p:nvSpPr>
          <p:cNvPr id="23" name="Oval 22"/>
          <p:cNvSpPr/>
          <p:nvPr/>
        </p:nvSpPr>
        <p:spPr>
          <a:xfrm>
            <a:off x="8339327" y="3337560"/>
            <a:ext cx="502920" cy="502920"/>
          </a:xfrm>
          <a:prstGeom prst="ellipse">
            <a:avLst/>
          </a:prstGeom>
          <a:solidFill>
            <a:srgbClr val="F8EED2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3456432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C9A84C"/>
                </a:solidFill>
                <a:latin typeface="PingFang SC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6448" y="4005072"/>
            <a:ext cx="3337560" cy="1143000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56448" y="4005072"/>
            <a:ext cx="82296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8" y="4169663"/>
            <a:ext cx="290779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写算式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4572000"/>
            <a:ext cx="2898648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3 + 4 = 7（只）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669280"/>
            <a:ext cx="10058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7854"/>
                </a:solidFill>
                <a:latin typeface="PingFang SC"/>
              </a:rPr>
              <a:t>检查一下：7只比原来的3只多，符合“又飞来4只”的故事吗？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数字和运算符号之间的关系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同一组数字，可以讲出不同的加法故事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观察数字的位置和组合，看看加数交换后，总数有没有变化。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代数与函数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" y="2121408"/>
            <a:ext cx="10058400" cy="1170432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377439"/>
            <a:ext cx="347472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263B53"/>
                </a:solidFill>
                <a:latin typeface="PingFang SC"/>
              </a:rPr>
              <a:t>3 + 2 = 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10912" y="2304288"/>
            <a:ext cx="0" cy="804672"/>
          </a:xfrm>
          <a:prstGeom prst="line">
            <a:avLst/>
          </a:prstGeom>
          <a:ln w="1524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58384" y="2414015"/>
            <a:ext cx="53492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3个苹果和2个苹果，合起来5个。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630168"/>
            <a:ext cx="10058400" cy="1170432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E7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886200"/>
            <a:ext cx="347472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263B53"/>
                </a:solidFill>
                <a:latin typeface="PingFang SC"/>
              </a:rPr>
              <a:t>2 + 3 = 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0912" y="3813048"/>
            <a:ext cx="0" cy="804672"/>
          </a:xfrm>
          <a:prstGeom prst="line">
            <a:avLst/>
          </a:prstGeom>
          <a:ln w="15240">
            <a:solidFill>
              <a:srgbClr val="347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58384" y="3922776"/>
            <a:ext cx="53492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2个苹果和3个苹果，合起来还是5个。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5349240"/>
            <a:ext cx="964692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5449824"/>
            <a:ext cx="9281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47854"/>
                </a:solidFill>
                <a:latin typeface="PingFang SC"/>
              </a:rPr>
              <a:t>发现：3和2交换位置，总数还是5。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读故事，挑算式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哪一个算式符合故事？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先听懂故事里的数量变化，再判断算式；别只看数字是否出现过。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代数与函数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029968"/>
            <a:ext cx="10332720" cy="91440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286000"/>
            <a:ext cx="96926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桌上有5本书，妈妈又放上2本。现在有几本？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" y="3401568"/>
            <a:ext cx="3364992" cy="1389888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3657600"/>
            <a:ext cx="3090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263B53"/>
                </a:solidFill>
                <a:latin typeface="PingFang SC"/>
              </a:rPr>
              <a:t>5 + 2 =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4251960"/>
            <a:ext cx="30906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47854"/>
                </a:solidFill>
                <a:latin typeface="PingFang SC"/>
              </a:rPr>
              <a:t>两部分合起来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35424" y="3401568"/>
            <a:ext cx="3364992" cy="1389888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4" y="3657600"/>
            <a:ext cx="3090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263B53"/>
                </a:solidFill>
                <a:latin typeface="PingFang SC"/>
              </a:rPr>
              <a:t>5 = 2 + 3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4251960"/>
            <a:ext cx="30906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C9A84C"/>
                </a:solidFill>
                <a:latin typeface="PingFang SC"/>
              </a:rPr>
              <a:t>右边没有表示全部书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3401568"/>
            <a:ext cx="3364992" cy="1389888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4" y="3657600"/>
            <a:ext cx="3090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263B53"/>
                </a:solidFill>
                <a:latin typeface="PingFang SC"/>
              </a:rPr>
              <a:t>2 + 2 =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4251960"/>
            <a:ext cx="30906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980B9"/>
                </a:solidFill>
                <a:latin typeface="PingFang SC"/>
              </a:rPr>
              <a:t>没有用到原来的5本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394960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47854"/>
                </a:solidFill>
                <a:latin typeface="PingFang SC"/>
              </a:rPr>
              <a:t>说一说：你选哪一个？故事中的“又放上”告诉了你什么？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自己编题 · 自己写算式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让算式变成一个小故事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先选两个小数量，再想象一个把它们合在一起的生活情境。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代数与函数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039112"/>
            <a:ext cx="47548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04288"/>
            <a:ext cx="2011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我选的数字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26080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2980B9"/>
                </a:solidFill>
                <a:latin typeface="PingFang SC"/>
              </a:rPr>
              <a:t>2   +   3   =  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767328"/>
            <a:ext cx="41148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667789"/>
                </a:solidFill>
                <a:latin typeface="PingFang SC"/>
              </a:rPr>
              <a:t>想一想：什么东西可以有2个，又有3个？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121408"/>
            <a:ext cx="5029200" cy="1243584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2121408"/>
            <a:ext cx="82296" cy="124358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2286000"/>
            <a:ext cx="45994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讲一个故事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688336"/>
            <a:ext cx="459028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“我有2个红气球，又拿到3个蓝气球。”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675887"/>
            <a:ext cx="5029200" cy="1243584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3675887"/>
            <a:ext cx="82296" cy="1243584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3840479"/>
            <a:ext cx="45994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说出总数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242816"/>
            <a:ext cx="459028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“一共有5个气球。算式是2 + 3 = 5。”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5779008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7854"/>
                </a:solidFill>
                <a:latin typeface="PingFang SC"/>
              </a:rPr>
              <a:t>换一种物品再编一个：积木、玩具车、水果都可以。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亲子游戏 · 在家轻松玩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玩一玩，练习看懂数量关系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游戏时可以使用小玩具、水果或积木；每次用少量物品，边玩边说算式。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代数与函数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029968"/>
            <a:ext cx="5074920" cy="146304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2029968"/>
            <a:ext cx="82296" cy="14630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194560"/>
            <a:ext cx="4645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小小玩具店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96896"/>
            <a:ext cx="4636008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家长拿出几辆玩具车，再“买来”几辆；孩子摆一摆、写算式。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29968"/>
            <a:ext cx="5074920" cy="146304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029968"/>
            <a:ext cx="82296" cy="1463040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4645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餐桌加一加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96896"/>
            <a:ext cx="4636008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摆好几块水果，再添几块；请孩子讲述数量怎样变化。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3803904"/>
            <a:ext cx="5074920" cy="1463040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" y="3803904"/>
            <a:ext cx="82296" cy="1463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968496"/>
            <a:ext cx="4645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算式猜故事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370832"/>
            <a:ext cx="4636008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家长写“4 + 2 = 6”，孩子用身边物品编一个故事。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03904"/>
            <a:ext cx="50749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803904"/>
            <a:ext cx="82296" cy="14630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68496"/>
            <a:ext cx="4645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符号小侦探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70832"/>
            <a:ext cx="4636008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给孩子看几个算式，请他找出“＋”和“＝”，并说说它们的作用。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5806440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家长提示：孩子可以先画、先摆，再慢慢写成数字算式。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带回生活 · 数学小表达家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把故事写成算式，再把算式读回故事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数字、运算符号和等号放在一起，就能表达数量之间的关系。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代数与函数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11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2057400"/>
            <a:ext cx="585216" cy="585216"/>
          </a:xfrm>
          <a:prstGeom prst="ellipse">
            <a:avLst/>
          </a:prstGeom>
          <a:solidFill>
            <a:srgbClr val="E7F0FA"/>
          </a:solidFill>
          <a:ln w="1651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203704"/>
            <a:ext cx="58521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980B9"/>
                </a:solidFill>
                <a:latin typeface="PingFang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075688"/>
            <a:ext cx="1920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找数字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093976"/>
            <a:ext cx="6217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>故事里有几个数量？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0" y="3090672"/>
            <a:ext cx="585216" cy="585216"/>
          </a:xfrm>
          <a:prstGeom prst="ellipse">
            <a:avLst/>
          </a:prstGeom>
          <a:solidFill>
            <a:srgbClr val="E7F3EC"/>
          </a:solidFill>
          <a:ln w="1651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236976"/>
            <a:ext cx="58521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47854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108960"/>
            <a:ext cx="1920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想关系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127248"/>
            <a:ext cx="6217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>是把数量合在一起吗？</a:t>
            </a:r>
          </a:p>
        </p:txBody>
      </p:sp>
      <p:sp>
        <p:nvSpPr>
          <p:cNvPr id="17" name="Oval 16"/>
          <p:cNvSpPr/>
          <p:nvPr/>
        </p:nvSpPr>
        <p:spPr>
          <a:xfrm>
            <a:off x="1188720" y="4123944"/>
            <a:ext cx="585216" cy="585216"/>
          </a:xfrm>
          <a:prstGeom prst="ellipse">
            <a:avLst/>
          </a:prstGeom>
          <a:solidFill>
            <a:srgbClr val="F8EED2"/>
          </a:solidFill>
          <a:ln w="1651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270248"/>
            <a:ext cx="58521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C9A84C"/>
                </a:solidFill>
                <a:latin typeface="PingFang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142231"/>
            <a:ext cx="1920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写算式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160520"/>
            <a:ext cx="6217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>用数字和符号记录，再读一遍。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0680"/>
            <a:ext cx="9875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559552"/>
            <a:ext cx="9418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47854"/>
                </a:solidFill>
                <a:latin typeface="PingFang SC"/>
              </a:rPr>
              <a:t>数量看清楚 · 符号用正确 · 等号两边一样多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